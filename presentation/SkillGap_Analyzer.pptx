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6EB6100-D7C2-F343-8C51-45393293534D}">
          <p14:sldIdLst>
            <p14:sldId id="256"/>
            <p14:sldId id="257"/>
          </p14:sldIdLst>
        </p14:section>
        <p14:section name="The product" id="{828BBB60-62F2-E7B9-0DC3-FD6F0A1A8EFA}">
          <p14:sldIdLst>
            <p14:sldId id="258"/>
            <p14:sldId id="259"/>
            <p14:sldId id="260"/>
            <p14:sldId id="261"/>
          </p14:sldIdLst>
        </p14:section>
        <p14:section name="Under the hood" id="{5ACB18F4-E452-420D-66B4-4855E9C5FAB4}">
          <p14:sldIdLst>
            <p14:sldId id="262"/>
            <p14:sldId id="263"/>
          </p14:sldIdLst>
        </p14:section>
        <p14:section name="Wrap-up" id="{57242A80-9835-B044-341F-B5AD892B6E8A}">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2" d="100"/>
          <a:sy n="62" d="100"/>
        </p:scale>
        <p:origin x="45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Your level</c:v>
                </c:pt>
              </c:strCache>
            </c:strRef>
          </c:tx>
          <c:spPr>
            <a:solidFill>
              <a:srgbClr val="24A699"/>
            </a:solidFill>
            <a:effectLst/>
          </c:spPr>
          <c:invertIfNegative val="0"/>
          <c:cat>
            <c:strRef>
              <c:f>Sheet1!$A$2:$A$7</c:f>
              <c:strCache>
                <c:ptCount val="6"/>
                <c:pt idx="0">
                  <c:v>FastAPI  0/75</c:v>
                </c:pt>
                <c:pt idx="1">
                  <c:v>Authentication  0/70</c:v>
                </c:pt>
                <c:pt idx="2">
                  <c:v>System Design  0/65</c:v>
                </c:pt>
                <c:pt idx="3">
                  <c:v>Python  60/80</c:v>
                </c:pt>
                <c:pt idx="4">
                  <c:v>REST APIs  60/80</c:v>
                </c:pt>
                <c:pt idx="5">
                  <c:v>SQL  60/75</c:v>
                </c:pt>
              </c:strCache>
            </c:strRef>
          </c:cat>
          <c:val>
            <c:numRef>
              <c:f>Sheet1!$B$2:$B$7</c:f>
              <c:numCache>
                <c:formatCode>General</c:formatCode>
                <c:ptCount val="6"/>
                <c:pt idx="0">
                  <c:v>0</c:v>
                </c:pt>
                <c:pt idx="1">
                  <c:v>0</c:v>
                </c:pt>
                <c:pt idx="2">
                  <c:v>0</c:v>
                </c:pt>
                <c:pt idx="3">
                  <c:v>60</c:v>
                </c:pt>
                <c:pt idx="4">
                  <c:v>60</c:v>
                </c:pt>
                <c:pt idx="5">
                  <c:v>60</c:v>
                </c:pt>
              </c:numCache>
            </c:numRef>
          </c:val>
          <c:extLst>
            <c:ext xmlns:c16="http://schemas.microsoft.com/office/drawing/2014/chart" uri="{C3380CC4-5D6E-409C-BE32-E72D297353CC}">
              <c16:uniqueId val="{00000000-74E3-4C9E-BF0C-51682E9FDF3B}"/>
            </c:ext>
          </c:extLst>
        </c:ser>
        <c:ser>
          <c:idx val="1"/>
          <c:order val="1"/>
          <c:tx>
            <c:strRef>
              <c:f>Sheet1!$C$1</c:f>
              <c:strCache>
                <c:ptCount val="1"/>
                <c:pt idx="0">
                  <c:v>Gap to target</c:v>
                </c:pt>
              </c:strCache>
            </c:strRef>
          </c:tx>
          <c:spPr>
            <a:solidFill>
              <a:srgbClr val="F2B45B"/>
            </a:solidFill>
            <a:effectLst/>
          </c:spPr>
          <c:invertIfNegative val="0"/>
          <c:cat>
            <c:strRef>
              <c:f>Sheet1!$A$2:$A$7</c:f>
              <c:strCache>
                <c:ptCount val="6"/>
                <c:pt idx="0">
                  <c:v>FastAPI  0/75</c:v>
                </c:pt>
                <c:pt idx="1">
                  <c:v>Authentication  0/70</c:v>
                </c:pt>
                <c:pt idx="2">
                  <c:v>System Design  0/65</c:v>
                </c:pt>
                <c:pt idx="3">
                  <c:v>Python  60/80</c:v>
                </c:pt>
                <c:pt idx="4">
                  <c:v>REST APIs  60/80</c:v>
                </c:pt>
                <c:pt idx="5">
                  <c:v>SQL  60/75</c:v>
                </c:pt>
              </c:strCache>
            </c:strRef>
          </c:cat>
          <c:val>
            <c:numRef>
              <c:f>Sheet1!$C$2:$C$7</c:f>
              <c:numCache>
                <c:formatCode>General</c:formatCode>
                <c:ptCount val="6"/>
                <c:pt idx="0">
                  <c:v>75</c:v>
                </c:pt>
                <c:pt idx="1">
                  <c:v>70</c:v>
                </c:pt>
                <c:pt idx="2">
                  <c:v>65</c:v>
                </c:pt>
                <c:pt idx="3">
                  <c:v>20</c:v>
                </c:pt>
                <c:pt idx="4">
                  <c:v>20</c:v>
                </c:pt>
                <c:pt idx="5">
                  <c:v>15</c:v>
                </c:pt>
              </c:numCache>
            </c:numRef>
          </c:val>
          <c:extLst>
            <c:ext xmlns:c16="http://schemas.microsoft.com/office/drawing/2014/chart" uri="{C3380CC4-5D6E-409C-BE32-E72D297353CC}">
              <c16:uniqueId val="{00000001-74E3-4C9E-BF0C-51682E9FDF3B}"/>
            </c:ext>
          </c:extLst>
        </c:ser>
        <c:dLbls>
          <c:showLegendKey val="0"/>
          <c:showVal val="0"/>
          <c:showCatName val="0"/>
          <c:showSerName val="0"/>
          <c:showPercent val="0"/>
          <c:showBubbleSize val="0"/>
        </c:dLbls>
        <c:gapWidth val="55"/>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9324D"/>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t"/>
        <c:majorGridlines>
          <c:spPr>
            <a:ln w="6350" cap="flat">
              <a:solidFill>
                <a:srgbClr val="DCE4EC"/>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4F5D6B"/>
                </a:solidFill>
                <a:latin typeface="+mn-lt"/>
              </a:defRPr>
            </a:pPr>
            <a:endParaRPr lang="en-US"/>
          </a:p>
        </c:txPr>
        <c:crossAx val="2094734554"/>
        <c:crosses val="autoZero"/>
        <c:crossBetween val="between"/>
        <c:majorUnit val="25"/>
      </c:valAx>
      <c:spPr>
        <a:noFill/>
        <a:ln>
          <a:noFill/>
        </a:ln>
        <a:effectLst/>
      </c:spPr>
    </c:plotArea>
    <c:legend>
      <c:legendPos val="t"/>
      <c:overlay val="0"/>
      <c:txPr>
        <a:bodyPr/>
        <a:lstStyle/>
        <a:p>
          <a:pPr>
            <a:defRPr sz="1100">
              <a:solidFill>
                <a:srgbClr val="4F5D6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1119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Our project is SkillGap Analyzer, a web application that is live at skillgapanalyzer-alpha.vercel.app. The idea is simple: a student tells the app which job role they want and which skills they already have, and the app shows what is missing and what to learn next, in order, week by week. It currently covers 13 career paths and 93 skills, with 26 short assessments. Every screenshot in this presentation was taken from the deployed site. I will cover the problem, how the app works, the logic behind it, and what we would improve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we started from is common for students preparing for placements. First, most of us know the job title we want but not what that role really expects. Job posts list many tools at once and rarely say how deep the knowledge must be. Second, even with the requirements in hand, it is hard to measure yourself against them. A resume lists skills but does not show which ones fall short. Third, skills depend on each other and time is limited, so without an order, learning becomes random. The blue panel on the right shows which part of our app answers each question.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one guided flow. The student chooses a role and adds and rates their skills. The app compares them with that role’s targets and produces a readiness score out of 100 and a list of gaps ranked by priority. From those gaps it builds a roadmap of weekly phases where prerequisites always come first. Short assessments then let the student prove progress, which updates their skill levels and re-plans the roadmap. The table compares this with an unstructured approach. The main difference is that every step is based on the role’s requirements and on the time the student actually has.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users are college students preparing for placements, fresh graduates aiming for a first role, and learners moving into a new track. Because the app asks for the user’s current level, the pacing adapts to each group. Here are three realistic use cases. The first is the run we did on the live site: a beginner targeting Backend Developer, with four skills, one hour a day and three months. They get a readiness of 32 out of 100 and a nine-phase roadmap. The second is checking one specific job post. The third is comparing roles or companies with the Career Simulator before choosing a direction.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screen of the app, shown right after onboarding. Number one is the readiness score out of 100. Number two compares the student’s level with the role’s target for each skill, with critical gaps marked in red. Number three is the button that turns these gaps into a roadmap. On the right are three more live features: the dependency-aware roadmap, where each skill goes through learn, practice, build and assess; job description match, where you paste a real job post; and 26 auto-graded assessments that update your skill level. The resume analyzer, GitHub analyzer and interview prep are also live.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journey on the website. You open the site and click Analyze My Skills. There is no sign-up. In step one you pick a target role, optionally with a target company. Step two asks your current level. Step three is where you add your skills and rate each one, or import them from a resume. Step four is an optional GitHub profile. Step five asks how much time you have per day and your timeline. Then you click Analyze My Skill Gap and see your results. From there, Generate My Roadmap builds the plan, and the dashboard shows this week’s tasks.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logic behind the results. A self-rating becomes a number: beginner is 30, intermediate 60 and advanced 85. Each role lists its skills with a target level and an importance weight. The chart shows our test run: teal is the level we entered, amber is the gap to the target. Readiness is the weighted share of targets covered, which came to 32 out of 100. For the roadmap, the planner adds missing prerequisites, orders skills so nothing comes before what it depends on, sizes the hours to the gap, and fits the plan to your weekly time. Here that gave nine phases and about 21 weeks, so the app warned that it would not fit three months.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technical side, the colours show the kind of component. The navy box is the interface: React 18 with React Router, built with Vite and styled with Tailwind CSS. The teal boxes are the logic and data, and the key design decision is that the analysis and planner are plain JavaScript functions with no randomness, so they run entirely in the browser. The amber box is storage: on the live site, data is saved in the browser’s local storage. The app is hosted on Vercel, and the GitHub analyzer calls GitHub’s public API. The dashed boxes are in the code but not enabled live: Firebase accounts and an optional Gemini step that rewrites roadmap wording.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expect the app to help students turn a vague goal into a specific list of gaps and a realistic order to learn in. These are intended benefits; we have not measured them with users yet. We also found real limitations. Skill levels start as self-ratings, the role targets are configured by us, data stays in one browser, and opening an inner page URL directly shows a 404 because the deployment is missing a rewrite rule. Our next steps follow from these: enable accounts, deploy the API, fix the routing, and check role targets with placement-cell or recruiter input.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students usually know the role they want but not what they are missing. SkillGap Analyzer measures their skills against that role, ranks the gaps, and builds a week-by-week plan that respects prerequisites and available time. The key takeaway is that every recommendation can be explained. It comes from the role’s targets and a rule-based planner, not a black box. I would now like to show it live: pick a role, add a few skills, see the gaps, and generate the roadmap. It takes about two minutes. Thank you, and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00800"/>
            <a:ext cx="3657600" cy="274320"/>
          </a:xfrm>
          <a:prstGeom prst="rect">
            <a:avLst/>
          </a:prstGeom>
          <a:noFill/>
          <a:ln/>
        </p:spPr>
        <p:txBody>
          <a:bodyPr wrap="square" lIns="0" tIns="0" rIns="0" bIns="0" rtlCol="0" anchor="ctr"/>
          <a:lstStyle/>
          <a:p>
            <a:pPr marL="0" indent="0">
              <a:buNone/>
            </a:pPr>
            <a:r>
              <a:rPr lang="en-US" sz="1100" dirty="0">
                <a:solidFill>
                  <a:srgbClr val="8C9AA8"/>
                </a:solidFill>
              </a:rPr>
              <a:t>SkillGap Analyzer</a:t>
            </a:r>
            <a:endParaRPr lang="en-US" sz="1100" dirty="0"/>
          </a:p>
        </p:txBody>
      </p:sp>
      <p:sp>
        <p:nvSpPr>
          <p:cNvPr id="3" name="Text 1"/>
          <p:cNvSpPr>
            <a:spLocks noGrp="1"/>
          </p:cNvSpPr>
          <p:nvPr>
            <p:ph type="title" idx="101" hasCustomPrompt="1"/>
          </p:nvPr>
        </p:nvSpPr>
        <p:spPr>
          <a:xfrm>
            <a:off x="548640" y="365760"/>
            <a:ext cx="11091672" cy="73152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C9AA8"/>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C9AA8"/>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killgapanalyzer-alpha.vercel.app/"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hyperlink" Target="https://skillgapanalyzer-alpha.vercel.app/"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creenshot backdrop"/>
          <p:cNvSpPr/>
          <p:nvPr/>
        </p:nvSpPr>
        <p:spPr>
          <a:xfrm>
            <a:off x="5806440" y="0"/>
            <a:ext cx="6385255" cy="6858000"/>
          </a:xfrm>
          <a:prstGeom prst="rect">
            <a:avLst/>
          </a:prstGeom>
          <a:solidFill>
            <a:schemeClr val="bg2"/>
          </a:solidFill>
          <a:ln/>
        </p:spPr>
      </p:sp>
      <p:sp>
        <p:nvSpPr>
          <p:cNvPr id="3" name="Text 1"/>
          <p:cNvSpPr txBox="1"/>
          <p:nvPr/>
        </p:nvSpPr>
        <p:spPr>
          <a:xfrm>
            <a:off x="548640" y="1097280"/>
            <a:ext cx="5120640" cy="320040"/>
          </a:xfrm>
          <a:prstGeom prst="rect">
            <a:avLst/>
          </a:prstGeom>
          <a:noFill/>
          <a:ln/>
        </p:spPr>
        <p:txBody>
          <a:bodyPr wrap="square" lIns="0" tIns="0" rIns="0" bIns="0" rtlCol="0" anchor="t"/>
          <a:lstStyle/>
          <a:p>
            <a:pPr marL="0" indent="0">
              <a:buNone/>
            </a:pPr>
            <a:r>
              <a:rPr lang="en-US" sz="1300" b="1" kern="0" spc="150" dirty="0">
                <a:solidFill>
                  <a:schemeClr val="accent4"/>
                </a:solidFill>
              </a:rPr>
              <a:t>WEB APPLICATION  ·  LIVE ON VERCEL</a:t>
            </a:r>
            <a:endParaRPr lang="en-US" sz="1300" dirty="0"/>
          </a:p>
        </p:txBody>
      </p:sp>
      <p:sp>
        <p:nvSpPr>
          <p:cNvPr id="4" name="Text 2"/>
          <p:cNvSpPr txBox="1"/>
          <p:nvPr/>
        </p:nvSpPr>
        <p:spPr>
          <a:xfrm>
            <a:off x="548640" y="1463040"/>
            <a:ext cx="5212080" cy="822960"/>
          </a:xfrm>
          <a:prstGeom prst="rect">
            <a:avLst/>
          </a:prstGeom>
          <a:noFill/>
          <a:ln/>
        </p:spPr>
        <p:txBody>
          <a:bodyPr wrap="square" lIns="0" tIns="0" rIns="0" bIns="0" rtlCol="0" anchor="t"/>
          <a:lstStyle/>
          <a:p>
            <a:pPr marL="0" indent="0">
              <a:buNone/>
            </a:pPr>
            <a:r>
              <a:rPr lang="en-US" sz="4400" b="1" dirty="0">
                <a:solidFill>
                  <a:schemeClr val="tx2"/>
                </a:solidFill>
              </a:rPr>
              <a:t>SkillGap Analyzer</a:t>
            </a:r>
            <a:endParaRPr lang="en-US" sz="4400" dirty="0"/>
          </a:p>
        </p:txBody>
      </p:sp>
      <p:sp>
        <p:nvSpPr>
          <p:cNvPr id="5" name="Text 3"/>
          <p:cNvSpPr txBox="1"/>
          <p:nvPr/>
        </p:nvSpPr>
        <p:spPr>
          <a:xfrm>
            <a:off x="548640" y="2377440"/>
            <a:ext cx="5212080" cy="822960"/>
          </a:xfrm>
          <a:prstGeom prst="rect">
            <a:avLst/>
          </a:prstGeom>
          <a:noFill/>
          <a:ln/>
        </p:spPr>
        <p:txBody>
          <a:bodyPr wrap="square" lIns="0" tIns="0" rIns="0" bIns="0" rtlCol="0" anchor="t"/>
          <a:lstStyle/>
          <a:p>
            <a:pPr marL="0" indent="0">
              <a:buNone/>
            </a:pPr>
            <a:r>
              <a:rPr lang="en-US" sz="2200" dirty="0">
                <a:solidFill>
                  <a:schemeClr val="accent5"/>
                </a:solidFill>
              </a:rPr>
              <a:t>Know what you’re missing.</a:t>
            </a:r>
            <a:endParaRPr lang="en-US" sz="2200" dirty="0"/>
          </a:p>
          <a:p>
            <a:pPr marL="0" indent="0">
              <a:buNone/>
            </a:pPr>
            <a:r>
              <a:rPr lang="en-US" sz="2200" b="1" dirty="0">
                <a:solidFill>
                  <a:schemeClr val="accent1"/>
                </a:solidFill>
              </a:rPr>
              <a:t>Know what to learn next.</a:t>
            </a:r>
            <a:endParaRPr lang="en-US" sz="2200" dirty="0"/>
          </a:p>
        </p:txBody>
      </p:sp>
      <p:sp>
        <p:nvSpPr>
          <p:cNvPr id="6" name="Text 4"/>
          <p:cNvSpPr txBox="1"/>
          <p:nvPr/>
        </p:nvSpPr>
        <p:spPr>
          <a:xfrm>
            <a:off x="548640" y="3337560"/>
            <a:ext cx="4937760" cy="960120"/>
          </a:xfrm>
          <a:prstGeom prst="rect">
            <a:avLst/>
          </a:prstGeom>
          <a:noFill/>
          <a:ln/>
        </p:spPr>
        <p:txBody>
          <a:bodyPr wrap="square" lIns="0" tIns="0" rIns="0" bIns="0" rtlCol="0" anchor="t"/>
          <a:lstStyle/>
          <a:p>
            <a:pPr marL="0" indent="0">
              <a:buNone/>
            </a:pPr>
            <a:r>
              <a:rPr lang="en-US" sz="1700" dirty="0">
                <a:solidFill>
                  <a:schemeClr val="tx1"/>
                </a:solidFill>
              </a:rPr>
              <a:t>A web app that compares your skills with what a target job role expects, ranks the gaps, and turns them into a week-by-week learning roadmap.</a:t>
            </a:r>
            <a:endParaRPr lang="en-US" sz="1700" dirty="0"/>
          </a:p>
        </p:txBody>
      </p:sp>
      <p:sp>
        <p:nvSpPr>
          <p:cNvPr id="7" name="Highlight 13"/>
          <p:cNvSpPr/>
          <p:nvPr/>
        </p:nvSpPr>
        <p:spPr>
          <a:xfrm>
            <a:off x="512064" y="4774997"/>
            <a:ext cx="485242" cy="181417"/>
          </a:xfrm>
          <a:prstGeom prst="rect">
            <a:avLst/>
          </a:prstGeom>
          <a:solidFill>
            <a:srgbClr val="F2B45B"/>
          </a:solidFill>
          <a:ln/>
        </p:spPr>
      </p:sp>
      <p:sp>
        <p:nvSpPr>
          <p:cNvPr id="8" name="Text 6"/>
          <p:cNvSpPr txBox="1"/>
          <p:nvPr/>
        </p:nvSpPr>
        <p:spPr>
          <a:xfrm>
            <a:off x="548640" y="4482389"/>
            <a:ext cx="777850" cy="541325"/>
          </a:xfrm>
          <a:prstGeom prst="rect">
            <a:avLst/>
          </a:prstGeom>
          <a:noFill/>
          <a:ln/>
        </p:spPr>
        <p:txBody>
          <a:bodyPr wrap="square" lIns="0" tIns="0" rIns="0" bIns="0" rtlCol="0" anchor="t"/>
          <a:lstStyle/>
          <a:p>
            <a:pPr marL="0" indent="0">
              <a:buNone/>
            </a:pPr>
            <a:r>
              <a:rPr lang="en-US" sz="3200" b="1" dirty="0">
                <a:solidFill>
                  <a:schemeClr val="tx2"/>
                </a:solidFill>
              </a:rPr>
              <a:t>13</a:t>
            </a:r>
            <a:endParaRPr lang="en-US" sz="3200" dirty="0"/>
          </a:p>
        </p:txBody>
      </p:sp>
      <p:sp>
        <p:nvSpPr>
          <p:cNvPr id="9" name="Text 7"/>
          <p:cNvSpPr txBox="1"/>
          <p:nvPr/>
        </p:nvSpPr>
        <p:spPr>
          <a:xfrm>
            <a:off x="548640" y="5067605"/>
            <a:ext cx="1463040" cy="274320"/>
          </a:xfrm>
          <a:prstGeom prst="rect">
            <a:avLst/>
          </a:prstGeom>
          <a:noFill/>
          <a:ln/>
        </p:spPr>
        <p:txBody>
          <a:bodyPr wrap="square" lIns="0" tIns="0" rIns="0" bIns="0" rtlCol="0" anchor="t"/>
          <a:lstStyle/>
          <a:p>
            <a:pPr marL="0" indent="0">
              <a:buNone/>
            </a:pPr>
            <a:r>
              <a:rPr lang="en-US" sz="1300" dirty="0">
                <a:solidFill>
                  <a:schemeClr val="accent5"/>
                </a:solidFill>
              </a:rPr>
              <a:t>career paths</a:t>
            </a:r>
            <a:endParaRPr lang="en-US" sz="1300" dirty="0"/>
          </a:p>
        </p:txBody>
      </p:sp>
      <p:sp>
        <p:nvSpPr>
          <p:cNvPr id="10" name="Highlight 93"/>
          <p:cNvSpPr/>
          <p:nvPr/>
        </p:nvSpPr>
        <p:spPr>
          <a:xfrm>
            <a:off x="2112264" y="4774997"/>
            <a:ext cx="485242" cy="181417"/>
          </a:xfrm>
          <a:prstGeom prst="rect">
            <a:avLst/>
          </a:prstGeom>
          <a:solidFill>
            <a:srgbClr val="F2B45B"/>
          </a:solidFill>
          <a:ln/>
        </p:spPr>
      </p:sp>
      <p:sp>
        <p:nvSpPr>
          <p:cNvPr id="11" name="Text 9"/>
          <p:cNvSpPr txBox="1"/>
          <p:nvPr/>
        </p:nvSpPr>
        <p:spPr>
          <a:xfrm>
            <a:off x="2148840" y="4482389"/>
            <a:ext cx="777850" cy="541325"/>
          </a:xfrm>
          <a:prstGeom prst="rect">
            <a:avLst/>
          </a:prstGeom>
          <a:noFill/>
          <a:ln/>
        </p:spPr>
        <p:txBody>
          <a:bodyPr wrap="square" lIns="0" tIns="0" rIns="0" bIns="0" rtlCol="0" anchor="t"/>
          <a:lstStyle/>
          <a:p>
            <a:pPr marL="0" indent="0">
              <a:buNone/>
            </a:pPr>
            <a:r>
              <a:rPr lang="en-US" sz="3200" b="1" dirty="0">
                <a:solidFill>
                  <a:schemeClr val="tx2"/>
                </a:solidFill>
              </a:rPr>
              <a:t>93</a:t>
            </a:r>
            <a:endParaRPr lang="en-US" sz="3200" dirty="0"/>
          </a:p>
        </p:txBody>
      </p:sp>
      <p:sp>
        <p:nvSpPr>
          <p:cNvPr id="12" name="Text 10"/>
          <p:cNvSpPr txBox="1"/>
          <p:nvPr/>
        </p:nvSpPr>
        <p:spPr>
          <a:xfrm>
            <a:off x="2148840" y="5067605"/>
            <a:ext cx="1463040" cy="274320"/>
          </a:xfrm>
          <a:prstGeom prst="rect">
            <a:avLst/>
          </a:prstGeom>
          <a:noFill/>
          <a:ln/>
        </p:spPr>
        <p:txBody>
          <a:bodyPr wrap="square" lIns="0" tIns="0" rIns="0" bIns="0" rtlCol="0" anchor="t"/>
          <a:lstStyle/>
          <a:p>
            <a:pPr marL="0" indent="0">
              <a:buNone/>
            </a:pPr>
            <a:r>
              <a:rPr lang="en-US" sz="1300" dirty="0">
                <a:solidFill>
                  <a:schemeClr val="accent5"/>
                </a:solidFill>
              </a:rPr>
              <a:t>skills mapped</a:t>
            </a:r>
            <a:endParaRPr lang="en-US" sz="1300" dirty="0"/>
          </a:p>
        </p:txBody>
      </p:sp>
      <p:sp>
        <p:nvSpPr>
          <p:cNvPr id="13" name="Highlight 26"/>
          <p:cNvSpPr/>
          <p:nvPr/>
        </p:nvSpPr>
        <p:spPr>
          <a:xfrm>
            <a:off x="3712464" y="4774997"/>
            <a:ext cx="485242" cy="181417"/>
          </a:xfrm>
          <a:prstGeom prst="rect">
            <a:avLst/>
          </a:prstGeom>
          <a:solidFill>
            <a:srgbClr val="F2B45B"/>
          </a:solidFill>
          <a:ln/>
        </p:spPr>
      </p:sp>
      <p:sp>
        <p:nvSpPr>
          <p:cNvPr id="14" name="Text 12"/>
          <p:cNvSpPr txBox="1"/>
          <p:nvPr/>
        </p:nvSpPr>
        <p:spPr>
          <a:xfrm>
            <a:off x="3749040" y="4482389"/>
            <a:ext cx="777850" cy="541325"/>
          </a:xfrm>
          <a:prstGeom prst="rect">
            <a:avLst/>
          </a:prstGeom>
          <a:noFill/>
          <a:ln/>
        </p:spPr>
        <p:txBody>
          <a:bodyPr wrap="square" lIns="0" tIns="0" rIns="0" bIns="0" rtlCol="0" anchor="t"/>
          <a:lstStyle/>
          <a:p>
            <a:pPr marL="0" indent="0">
              <a:buNone/>
            </a:pPr>
            <a:r>
              <a:rPr lang="en-US" sz="3200" b="1" dirty="0">
                <a:solidFill>
                  <a:schemeClr val="tx2"/>
                </a:solidFill>
              </a:rPr>
              <a:t>26</a:t>
            </a:r>
            <a:endParaRPr lang="en-US" sz="3200" dirty="0"/>
          </a:p>
        </p:txBody>
      </p:sp>
      <p:sp>
        <p:nvSpPr>
          <p:cNvPr id="15" name="Text 13"/>
          <p:cNvSpPr txBox="1"/>
          <p:nvPr/>
        </p:nvSpPr>
        <p:spPr>
          <a:xfrm>
            <a:off x="3749040" y="5067605"/>
            <a:ext cx="1737360" cy="274320"/>
          </a:xfrm>
          <a:prstGeom prst="rect">
            <a:avLst/>
          </a:prstGeom>
          <a:noFill/>
          <a:ln/>
        </p:spPr>
        <p:txBody>
          <a:bodyPr wrap="square" lIns="0" tIns="0" rIns="0" bIns="0" rtlCol="0" anchor="t"/>
          <a:lstStyle/>
          <a:p>
            <a:pPr marL="0" indent="0">
              <a:buNone/>
            </a:pPr>
            <a:r>
              <a:rPr lang="en-US" sz="1300" dirty="0">
                <a:solidFill>
                  <a:schemeClr val="accent5"/>
                </a:solidFill>
              </a:rPr>
              <a:t>skill assessments</a:t>
            </a:r>
            <a:endParaRPr lang="en-US" sz="1300" dirty="0"/>
          </a:p>
        </p:txBody>
      </p:sp>
      <p:sp>
        <p:nvSpPr>
          <p:cNvPr id="16" name="Text 14"/>
          <p:cNvSpPr txBox="1"/>
          <p:nvPr/>
        </p:nvSpPr>
        <p:spPr>
          <a:xfrm>
            <a:off x="548640" y="5440680"/>
            <a:ext cx="5029200" cy="365760"/>
          </a:xfrm>
          <a:prstGeom prst="rect">
            <a:avLst/>
          </a:prstGeom>
          <a:noFill/>
          <a:ln/>
        </p:spPr>
        <p:txBody>
          <a:bodyPr wrap="square" lIns="0" tIns="0" rIns="0" bIns="0" rtlCol="0" anchor="t"/>
          <a:lstStyle/>
          <a:p>
            <a:pPr marL="0" indent="0">
              <a:buNone/>
            </a:pPr>
            <a:r>
              <a:rPr lang="en-US" sz="1600" b="1" u="sng" dirty="0">
                <a:solidFill>
                  <a:schemeClr val="accent4"/>
                </a:solidFill>
                <a:hlinkClick r:id="rId3" tooltip="Open the live site">
                  <a:extLst>
                    <a:ext uri="{A12FA001-AC4F-418D-AE19-62706E023703}">
                      <ahyp:hlinkClr xmlns:ahyp="http://schemas.microsoft.com/office/drawing/2018/hyperlinkcolor" val="tx"/>
                    </a:ext>
                  </a:extLst>
                </a:hlinkClick>
              </a:rPr>
              <a:t>skillgapanalyzer-alpha.vercel.app</a:t>
            </a:r>
            <a:endParaRPr lang="en-US" sz="1600" dirty="0"/>
          </a:p>
        </p:txBody>
      </p:sp>
      <p:sp>
        <p:nvSpPr>
          <p:cNvPr id="17" name="Text 15"/>
          <p:cNvSpPr txBox="1"/>
          <p:nvPr/>
        </p:nvSpPr>
        <p:spPr>
          <a:xfrm>
            <a:off x="548640" y="5989320"/>
            <a:ext cx="5120640" cy="320040"/>
          </a:xfrm>
          <a:prstGeom prst="rect">
            <a:avLst/>
          </a:prstGeom>
          <a:noFill/>
          <a:ln/>
        </p:spPr>
        <p:txBody>
          <a:bodyPr wrap="square" lIns="0" tIns="0" rIns="0" bIns="0" rtlCol="0" anchor="t"/>
          <a:lstStyle/>
          <a:p>
            <a:pPr marL="0" indent="0">
              <a:buNone/>
            </a:pPr>
            <a:r>
              <a:rPr lang="en-US" sz="1250" dirty="0">
                <a:solidFill>
                  <a:srgbClr val="8C9AA8"/>
                </a:solidFill>
              </a:rPr>
              <a:t>[Team name] · [Member names] · [Institution]: add before presenting</a:t>
            </a:r>
            <a:endParaRPr lang="en-US" sz="1250" dirty="0"/>
          </a:p>
        </p:txBody>
      </p:sp>
      <p:pic>
        <p:nvPicPr>
          <p:cNvPr id="18" name="Homepage screenshot" descr="Homepage screenshot"/>
          <p:cNvPicPr>
            <a:picLocks noChangeAspect="1"/>
          </p:cNvPicPr>
          <p:nvPr/>
        </p:nvPicPr>
        <p:blipFill>
          <a:blip r:embed="rId4"/>
          <a:stretch>
            <a:fillRect/>
          </a:stretch>
        </p:blipFill>
        <p:spPr>
          <a:xfrm>
            <a:off x="6172200" y="1417320"/>
            <a:ext cx="5669280" cy="3605463"/>
          </a:xfrm>
          <a:prstGeom prst="rect">
            <a:avLst/>
          </a:prstGeom>
        </p:spPr>
      </p:pic>
      <p:sp>
        <p:nvSpPr>
          <p:cNvPr id="19" name="Homepage screenshot frame"/>
          <p:cNvSpPr/>
          <p:nvPr/>
        </p:nvSpPr>
        <p:spPr>
          <a:xfrm>
            <a:off x="6172200" y="1417320"/>
            <a:ext cx="5669280" cy="3605463"/>
          </a:xfrm>
          <a:prstGeom prst="rect">
            <a:avLst/>
          </a:prstGeom>
          <a:ln w="9525">
            <a:solidFill>
              <a:srgbClr val="C9D6E3"/>
            </a:solidFill>
            <a:prstDash val="solid"/>
          </a:ln>
        </p:spPr>
      </p:sp>
      <p:sp>
        <p:nvSpPr>
          <p:cNvPr id="20" name="Text 17"/>
          <p:cNvSpPr txBox="1"/>
          <p:nvPr/>
        </p:nvSpPr>
        <p:spPr>
          <a:xfrm>
            <a:off x="6172200" y="5132511"/>
            <a:ext cx="5669280" cy="274320"/>
          </a:xfrm>
          <a:prstGeom prst="rect">
            <a:avLst/>
          </a:prstGeom>
          <a:noFill/>
          <a:ln/>
        </p:spPr>
        <p:txBody>
          <a:bodyPr wrap="square" lIns="0" tIns="0" rIns="0" bIns="0" rtlCol="0" anchor="t"/>
          <a:lstStyle/>
          <a:p>
            <a:pPr marL="0" indent="0">
              <a:buNone/>
            </a:pPr>
            <a:r>
              <a:rPr lang="en-US" sz="1100" dirty="0">
                <a:solidFill>
                  <a:schemeClr val="accent5"/>
                </a:solidFill>
              </a:rPr>
              <a:t>Homepage of the live site, captured 15 Oct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The problem: knowing what to learn next</a:t>
            </a:r>
            <a:endParaRPr lang="en-US" sz="3000" dirty="0"/>
          </a:p>
        </p:txBody>
      </p:sp>
      <p:sp>
        <p:nvSpPr>
          <p:cNvPr id="3" name="Text 1"/>
          <p:cNvSpPr txBox="1"/>
          <p:nvPr/>
        </p:nvSpPr>
        <p:spPr>
          <a:xfrm>
            <a:off x="548640" y="1170432"/>
            <a:ext cx="11091672" cy="411480"/>
          </a:xfrm>
          <a:prstGeom prst="rect">
            <a:avLst/>
          </a:prstGeom>
          <a:noFill/>
          <a:ln/>
        </p:spPr>
        <p:txBody>
          <a:bodyPr wrap="square" lIns="0" tIns="0" rIns="0" bIns="0" rtlCol="0" anchor="t"/>
          <a:lstStyle/>
          <a:p>
            <a:pPr marL="0" indent="0">
              <a:buNone/>
            </a:pPr>
            <a:r>
              <a:rPr lang="en-US" sz="1900" dirty="0">
                <a:solidFill>
                  <a:schemeClr val="accent5"/>
                </a:solidFill>
              </a:rPr>
              <a:t>Most students know the job title they want, but not the path to it.</a:t>
            </a:r>
            <a:endParaRPr lang="en-US" sz="1900" dirty="0"/>
          </a:p>
        </p:txBody>
      </p:sp>
      <p:sp>
        <p:nvSpPr>
          <p:cNvPr id="4" name="Text 2"/>
          <p:cNvSpPr txBox="1"/>
          <p:nvPr/>
        </p:nvSpPr>
        <p:spPr>
          <a:xfrm>
            <a:off x="1188720" y="1874520"/>
            <a:ext cx="5943600" cy="274320"/>
          </a:xfrm>
          <a:prstGeom prst="rect">
            <a:avLst/>
          </a:prstGeom>
          <a:noFill/>
          <a:ln/>
        </p:spPr>
        <p:txBody>
          <a:bodyPr wrap="square" lIns="0" tIns="0" rIns="0" bIns="0" rtlCol="0" anchor="t"/>
          <a:lstStyle/>
          <a:p>
            <a:pPr marL="0" indent="0">
              <a:buNone/>
            </a:pPr>
            <a:r>
              <a:rPr lang="en-US" sz="1200" b="1" kern="0" spc="100" dirty="0">
                <a:solidFill>
                  <a:schemeClr val="accent5"/>
                </a:solidFill>
              </a:rPr>
              <a:t>THE QUESTION STUDENTS FACE</a:t>
            </a:r>
            <a:endParaRPr lang="en-US" sz="1200" dirty="0"/>
          </a:p>
        </p:txBody>
      </p:sp>
      <p:sp>
        <p:nvSpPr>
          <p:cNvPr id="5" name="Answers panel"/>
          <p:cNvSpPr/>
          <p:nvPr/>
        </p:nvSpPr>
        <p:spPr>
          <a:xfrm>
            <a:off x="7589520" y="1755648"/>
            <a:ext cx="4050792" cy="4434840"/>
          </a:xfrm>
          <a:prstGeom prst="rect">
            <a:avLst/>
          </a:prstGeom>
          <a:solidFill>
            <a:schemeClr val="bg2"/>
          </a:solidFill>
          <a:ln/>
        </p:spPr>
      </p:sp>
      <p:sp>
        <p:nvSpPr>
          <p:cNvPr id="6" name="Text 4"/>
          <p:cNvSpPr txBox="1"/>
          <p:nvPr/>
        </p:nvSpPr>
        <p:spPr>
          <a:xfrm>
            <a:off x="7863840" y="1874520"/>
            <a:ext cx="3657600" cy="274320"/>
          </a:xfrm>
          <a:prstGeom prst="rect">
            <a:avLst/>
          </a:prstGeom>
          <a:noFill/>
          <a:ln/>
        </p:spPr>
        <p:txBody>
          <a:bodyPr wrap="square" lIns="0" tIns="0" rIns="0" bIns="0" rtlCol="0" anchor="t"/>
          <a:lstStyle/>
          <a:p>
            <a:pPr marL="0" indent="0">
              <a:buNone/>
            </a:pPr>
            <a:r>
              <a:rPr lang="en-US" sz="1200" b="1" kern="0" spc="100" dirty="0">
                <a:solidFill>
                  <a:schemeClr val="accent4"/>
                </a:solidFill>
              </a:rPr>
              <a:t>WHERE SKILLGAP ANALYZER ANSWERS IT</a:t>
            </a:r>
            <a:endParaRPr lang="en-US" sz="1200" dirty="0"/>
          </a:p>
        </p:txBody>
      </p:sp>
      <p:sp>
        <p:nvSpPr>
          <p:cNvPr id="7" name="Badge 1"/>
          <p:cNvSpPr/>
          <p:nvPr/>
        </p:nvSpPr>
        <p:spPr>
          <a:xfrm>
            <a:off x="548640" y="2350008"/>
            <a:ext cx="457200" cy="457200"/>
          </a:xfrm>
          <a:prstGeom prst="ellipse">
            <a:avLst/>
          </a:prstGeom>
          <a:solidFill>
            <a:srgbClr val="F2B45B"/>
          </a:solidFill>
          <a:ln/>
        </p:spPr>
        <p:txBody>
          <a:bodyPr wrap="square" lIns="0" tIns="0" rIns="0" bIns="0" rtlCol="0" anchor="ctr"/>
          <a:lstStyle/>
          <a:p>
            <a:pPr marL="0" indent="0" algn="ctr">
              <a:buNone/>
            </a:pPr>
            <a:r>
              <a:rPr lang="en-US" sz="1800" b="1" dirty="0">
                <a:solidFill>
                  <a:srgbClr val="19324D"/>
                </a:solidFill>
              </a:rPr>
              <a:t>1</a:t>
            </a:r>
            <a:endParaRPr lang="en-US" sz="1800" dirty="0"/>
          </a:p>
        </p:txBody>
      </p:sp>
      <p:sp>
        <p:nvSpPr>
          <p:cNvPr id="8" name="Text 6"/>
          <p:cNvSpPr txBox="1"/>
          <p:nvPr/>
        </p:nvSpPr>
        <p:spPr>
          <a:xfrm>
            <a:off x="1188720" y="2331720"/>
            <a:ext cx="6035040" cy="1051560"/>
          </a:xfrm>
          <a:prstGeom prst="rect">
            <a:avLst/>
          </a:prstGeom>
          <a:noFill/>
          <a:ln/>
        </p:spPr>
        <p:txBody>
          <a:bodyPr wrap="square" lIns="0" tIns="0" rIns="0" bIns="0" rtlCol="0" anchor="t"/>
          <a:lstStyle/>
          <a:p>
            <a:pPr marL="0" indent="0">
              <a:buNone/>
            </a:pPr>
            <a:r>
              <a:rPr lang="en-US" sz="2000" b="1" dirty="0">
                <a:solidFill>
                  <a:schemeClr val="tx2"/>
                </a:solidFill>
              </a:rPr>
              <a:t>What does the role actually need?</a:t>
            </a:r>
            <a:endParaRPr lang="en-US" sz="2000" dirty="0"/>
          </a:p>
          <a:p>
            <a:pPr marL="0" indent="0">
              <a:spcBef>
                <a:spcPts val="400"/>
              </a:spcBef>
              <a:buNone/>
            </a:pPr>
            <a:r>
              <a:rPr lang="en-US" sz="1600" dirty="0">
                <a:solidFill>
                  <a:schemeClr val="accent5"/>
                </a:solidFill>
              </a:rPr>
              <a:t>Job posts list many tools at once and rarely say what level is expected.</a:t>
            </a:r>
            <a:endParaRPr lang="en-US" sz="2000" dirty="0"/>
          </a:p>
        </p:txBody>
      </p:sp>
      <p:sp>
        <p:nvSpPr>
          <p:cNvPr id="9" name="Text 7"/>
          <p:cNvSpPr txBox="1"/>
          <p:nvPr/>
        </p:nvSpPr>
        <p:spPr>
          <a:xfrm>
            <a:off x="7863840" y="2359152"/>
            <a:ext cx="3566160" cy="1051560"/>
          </a:xfrm>
          <a:prstGeom prst="rect">
            <a:avLst/>
          </a:prstGeom>
          <a:noFill/>
          <a:ln/>
        </p:spPr>
        <p:txBody>
          <a:bodyPr wrap="square" lIns="0" tIns="0" rIns="0" bIns="0" rtlCol="0" anchor="t"/>
          <a:lstStyle/>
          <a:p>
            <a:pPr marL="0" indent="0">
              <a:buNone/>
            </a:pPr>
            <a:r>
              <a:rPr lang="en-US" sz="1600" b="1" dirty="0">
                <a:solidFill>
                  <a:schemeClr val="tx2"/>
                </a:solidFill>
              </a:rPr>
              <a:t>13 career paths</a:t>
            </a:r>
            <a:r>
              <a:rPr lang="en-US" sz="1600" dirty="0">
                <a:solidFill>
                  <a:schemeClr val="tx1"/>
                </a:solidFill>
              </a:rPr>
              <a:t>, each listing its required skills and a target level from 0 to 100</a:t>
            </a:r>
            <a:endParaRPr lang="en-US" sz="1600" dirty="0"/>
          </a:p>
        </p:txBody>
      </p:sp>
      <p:sp>
        <p:nvSpPr>
          <p:cNvPr id="10" name="Shape 8"/>
          <p:cNvSpPr/>
          <p:nvPr/>
        </p:nvSpPr>
        <p:spPr>
          <a:xfrm>
            <a:off x="548640" y="3493008"/>
            <a:ext cx="6720840" cy="0"/>
          </a:xfrm>
          <a:prstGeom prst="line">
            <a:avLst/>
          </a:prstGeom>
          <a:noFill/>
          <a:ln w="9525">
            <a:solidFill>
              <a:srgbClr val="C9D6E3"/>
            </a:solidFill>
            <a:prstDash val="solid"/>
          </a:ln>
        </p:spPr>
      </p:sp>
      <p:sp>
        <p:nvSpPr>
          <p:cNvPr id="11" name="Shape 9"/>
          <p:cNvSpPr/>
          <p:nvPr/>
        </p:nvSpPr>
        <p:spPr>
          <a:xfrm>
            <a:off x="7589520" y="3493008"/>
            <a:ext cx="4050792" cy="0"/>
          </a:xfrm>
          <a:prstGeom prst="line">
            <a:avLst/>
          </a:prstGeom>
          <a:noFill/>
          <a:ln w="19050">
            <a:solidFill>
              <a:srgbClr val="FFFFFF"/>
            </a:solidFill>
            <a:prstDash val="solid"/>
          </a:ln>
        </p:spPr>
      </p:sp>
      <p:sp>
        <p:nvSpPr>
          <p:cNvPr id="12" name="Badge 2"/>
          <p:cNvSpPr/>
          <p:nvPr/>
        </p:nvSpPr>
        <p:spPr>
          <a:xfrm>
            <a:off x="548640" y="3611880"/>
            <a:ext cx="457200" cy="457200"/>
          </a:xfrm>
          <a:prstGeom prst="ellipse">
            <a:avLst/>
          </a:prstGeom>
          <a:solidFill>
            <a:srgbClr val="F2B45B"/>
          </a:solidFill>
          <a:ln/>
        </p:spPr>
        <p:txBody>
          <a:bodyPr wrap="square" lIns="0" tIns="0" rIns="0" bIns="0" rtlCol="0" anchor="ctr"/>
          <a:lstStyle/>
          <a:p>
            <a:pPr marL="0" indent="0" algn="ctr">
              <a:buNone/>
            </a:pPr>
            <a:r>
              <a:rPr lang="en-US" sz="1800" b="1" dirty="0">
                <a:solidFill>
                  <a:srgbClr val="19324D"/>
                </a:solidFill>
              </a:rPr>
              <a:t>2</a:t>
            </a:r>
            <a:endParaRPr lang="en-US" sz="1800" dirty="0"/>
          </a:p>
        </p:txBody>
      </p:sp>
      <p:sp>
        <p:nvSpPr>
          <p:cNvPr id="13" name="Text 11"/>
          <p:cNvSpPr txBox="1"/>
          <p:nvPr/>
        </p:nvSpPr>
        <p:spPr>
          <a:xfrm>
            <a:off x="1188720" y="3593592"/>
            <a:ext cx="6035040" cy="1051560"/>
          </a:xfrm>
          <a:prstGeom prst="rect">
            <a:avLst/>
          </a:prstGeom>
          <a:noFill/>
          <a:ln/>
        </p:spPr>
        <p:txBody>
          <a:bodyPr wrap="square" lIns="0" tIns="0" rIns="0" bIns="0" rtlCol="0" anchor="t"/>
          <a:lstStyle/>
          <a:p>
            <a:pPr marL="0" indent="0">
              <a:buNone/>
            </a:pPr>
            <a:r>
              <a:rPr lang="en-US" sz="2000" b="1" dirty="0">
                <a:solidFill>
                  <a:schemeClr val="tx2"/>
                </a:solidFill>
              </a:rPr>
              <a:t>Where do I stand against it?</a:t>
            </a:r>
            <a:endParaRPr lang="en-US" sz="2000" dirty="0"/>
          </a:p>
          <a:p>
            <a:pPr marL="0" indent="0">
              <a:spcBef>
                <a:spcPts val="400"/>
              </a:spcBef>
              <a:buNone/>
            </a:pPr>
            <a:r>
              <a:rPr lang="en-US" sz="1600" dirty="0">
                <a:solidFill>
                  <a:schemeClr val="accent5"/>
                </a:solidFill>
              </a:rPr>
              <a:t>A resume lists skills, but not which ones are below the expected level, or by how much.</a:t>
            </a:r>
            <a:endParaRPr lang="en-US" sz="2000" dirty="0"/>
          </a:p>
        </p:txBody>
      </p:sp>
      <p:sp>
        <p:nvSpPr>
          <p:cNvPr id="14" name="Text 12"/>
          <p:cNvSpPr txBox="1"/>
          <p:nvPr/>
        </p:nvSpPr>
        <p:spPr>
          <a:xfrm>
            <a:off x="7863840" y="3621024"/>
            <a:ext cx="3566160" cy="1051560"/>
          </a:xfrm>
          <a:prstGeom prst="rect">
            <a:avLst/>
          </a:prstGeom>
          <a:noFill/>
          <a:ln/>
        </p:spPr>
        <p:txBody>
          <a:bodyPr wrap="square" lIns="0" tIns="0" rIns="0" bIns="0" rtlCol="0" anchor="t"/>
          <a:lstStyle/>
          <a:p>
            <a:pPr marL="0" indent="0">
              <a:buNone/>
            </a:pPr>
            <a:r>
              <a:rPr lang="en-US" sz="1600" b="1" dirty="0">
                <a:solidFill>
                  <a:schemeClr val="tx2"/>
                </a:solidFill>
              </a:rPr>
              <a:t>Skill Gap page:</a:t>
            </a:r>
            <a:r>
              <a:rPr lang="en-US" sz="1600" dirty="0">
                <a:solidFill>
                  <a:schemeClr val="tx1"/>
                </a:solidFill>
              </a:rPr>
              <a:t> your level next to the target for every requirement, ranked by priority</a:t>
            </a:r>
            <a:endParaRPr lang="en-US" sz="1600" dirty="0"/>
          </a:p>
        </p:txBody>
      </p:sp>
      <p:sp>
        <p:nvSpPr>
          <p:cNvPr id="15" name="Shape 13"/>
          <p:cNvSpPr/>
          <p:nvPr/>
        </p:nvSpPr>
        <p:spPr>
          <a:xfrm>
            <a:off x="548640" y="4754880"/>
            <a:ext cx="6720840" cy="0"/>
          </a:xfrm>
          <a:prstGeom prst="line">
            <a:avLst/>
          </a:prstGeom>
          <a:noFill/>
          <a:ln w="9525">
            <a:solidFill>
              <a:srgbClr val="C9D6E3"/>
            </a:solidFill>
            <a:prstDash val="solid"/>
          </a:ln>
        </p:spPr>
      </p:sp>
      <p:sp>
        <p:nvSpPr>
          <p:cNvPr id="16" name="Shape 14"/>
          <p:cNvSpPr/>
          <p:nvPr/>
        </p:nvSpPr>
        <p:spPr>
          <a:xfrm>
            <a:off x="7589520" y="4754880"/>
            <a:ext cx="4050792" cy="0"/>
          </a:xfrm>
          <a:prstGeom prst="line">
            <a:avLst/>
          </a:prstGeom>
          <a:noFill/>
          <a:ln w="19050">
            <a:solidFill>
              <a:srgbClr val="FFFFFF"/>
            </a:solidFill>
            <a:prstDash val="solid"/>
          </a:ln>
        </p:spPr>
      </p:sp>
      <p:sp>
        <p:nvSpPr>
          <p:cNvPr id="17" name="Badge 3"/>
          <p:cNvSpPr/>
          <p:nvPr/>
        </p:nvSpPr>
        <p:spPr>
          <a:xfrm>
            <a:off x="548640" y="4873752"/>
            <a:ext cx="457200" cy="457200"/>
          </a:xfrm>
          <a:prstGeom prst="ellipse">
            <a:avLst/>
          </a:prstGeom>
          <a:solidFill>
            <a:srgbClr val="F2B45B"/>
          </a:solidFill>
          <a:ln/>
        </p:spPr>
        <p:txBody>
          <a:bodyPr wrap="square" lIns="0" tIns="0" rIns="0" bIns="0" rtlCol="0" anchor="ctr"/>
          <a:lstStyle/>
          <a:p>
            <a:pPr marL="0" indent="0" algn="ctr">
              <a:buNone/>
            </a:pPr>
            <a:r>
              <a:rPr lang="en-US" sz="1800" b="1" dirty="0">
                <a:solidFill>
                  <a:srgbClr val="19324D"/>
                </a:solidFill>
              </a:rPr>
              <a:t>3</a:t>
            </a:r>
            <a:endParaRPr lang="en-US" sz="1800" dirty="0"/>
          </a:p>
        </p:txBody>
      </p:sp>
      <p:sp>
        <p:nvSpPr>
          <p:cNvPr id="18" name="Text 16"/>
          <p:cNvSpPr txBox="1"/>
          <p:nvPr/>
        </p:nvSpPr>
        <p:spPr>
          <a:xfrm>
            <a:off x="1188720" y="4855464"/>
            <a:ext cx="6035040" cy="1051560"/>
          </a:xfrm>
          <a:prstGeom prst="rect">
            <a:avLst/>
          </a:prstGeom>
          <a:noFill/>
          <a:ln/>
        </p:spPr>
        <p:txBody>
          <a:bodyPr wrap="square" lIns="0" tIns="0" rIns="0" bIns="0" rtlCol="0" anchor="t"/>
          <a:lstStyle/>
          <a:p>
            <a:pPr marL="0" indent="0">
              <a:buNone/>
            </a:pPr>
            <a:r>
              <a:rPr lang="en-US" sz="2000" b="1" dirty="0">
                <a:solidFill>
                  <a:schemeClr val="tx2"/>
                </a:solidFill>
              </a:rPr>
              <a:t>What should I learn first?</a:t>
            </a:r>
            <a:endParaRPr lang="en-US" sz="2000" dirty="0"/>
          </a:p>
          <a:p>
            <a:pPr marL="0" indent="0">
              <a:spcBef>
                <a:spcPts val="400"/>
              </a:spcBef>
              <a:buNone/>
            </a:pPr>
            <a:r>
              <a:rPr lang="en-US" sz="1600" dirty="0">
                <a:solidFill>
                  <a:schemeClr val="accent5"/>
                </a:solidFill>
              </a:rPr>
              <a:t>Some skills depend on others and study time is limited, so learning becomes random.</a:t>
            </a:r>
            <a:endParaRPr lang="en-US" sz="2000" dirty="0"/>
          </a:p>
        </p:txBody>
      </p:sp>
      <p:sp>
        <p:nvSpPr>
          <p:cNvPr id="19" name="Text 17"/>
          <p:cNvSpPr txBox="1"/>
          <p:nvPr/>
        </p:nvSpPr>
        <p:spPr>
          <a:xfrm>
            <a:off x="7863840" y="4882896"/>
            <a:ext cx="3566160" cy="1051560"/>
          </a:xfrm>
          <a:prstGeom prst="rect">
            <a:avLst/>
          </a:prstGeom>
          <a:noFill/>
          <a:ln/>
        </p:spPr>
        <p:txBody>
          <a:bodyPr wrap="square" lIns="0" tIns="0" rIns="0" bIns="0" rtlCol="0" anchor="t"/>
          <a:lstStyle/>
          <a:p>
            <a:pPr marL="0" indent="0">
              <a:buNone/>
            </a:pPr>
            <a:r>
              <a:rPr lang="en-US" sz="1600" b="1" dirty="0">
                <a:solidFill>
                  <a:schemeClr val="tx2"/>
                </a:solidFill>
              </a:rPr>
              <a:t>Roadmap:</a:t>
            </a:r>
            <a:r>
              <a:rPr lang="en-US" sz="1600" dirty="0">
                <a:solidFill>
                  <a:schemeClr val="tx1"/>
                </a:solidFill>
              </a:rPr>
              <a:t> prerequisites first, sized to the hours you have each week</a:t>
            </a:r>
            <a:endParaRPr lang="en-US" sz="16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C9AA8"/>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Our solution</a:t>
            </a:r>
            <a:endParaRPr lang="en-US" sz="3000" dirty="0"/>
          </a:p>
        </p:txBody>
      </p:sp>
      <p:sp>
        <p:nvSpPr>
          <p:cNvPr id="3" name="Text 1"/>
          <p:cNvSpPr txBox="1"/>
          <p:nvPr/>
        </p:nvSpPr>
        <p:spPr>
          <a:xfrm>
            <a:off x="548640" y="1170432"/>
            <a:ext cx="11091672" cy="411480"/>
          </a:xfrm>
          <a:prstGeom prst="rect">
            <a:avLst/>
          </a:prstGeom>
          <a:noFill/>
          <a:ln/>
        </p:spPr>
        <p:txBody>
          <a:bodyPr wrap="square" lIns="0" tIns="0" rIns="0" bIns="0" rtlCol="0" anchor="t"/>
          <a:lstStyle/>
          <a:p>
            <a:pPr marL="0" indent="0">
              <a:buNone/>
            </a:pPr>
            <a:r>
              <a:rPr lang="en-US" sz="1800" dirty="0">
                <a:solidFill>
                  <a:schemeClr val="accent5"/>
                </a:solidFill>
              </a:rPr>
              <a:t>One guided flow takes a student from a target role to a weekly study plan.</a:t>
            </a:r>
            <a:endParaRPr lang="en-US" sz="1800" dirty="0"/>
          </a:p>
        </p:txBody>
      </p:sp>
      <p:sp>
        <p:nvSpPr>
          <p:cNvPr id="4" name="Badge 1"/>
          <p:cNvSpPr/>
          <p:nvPr/>
        </p:nvSpPr>
        <p:spPr>
          <a:xfrm>
            <a:off x="1328623" y="1773936"/>
            <a:ext cx="658368" cy="658368"/>
          </a:xfrm>
          <a:prstGeom prst="ellipse">
            <a:avLst/>
          </a:prstGeom>
          <a:solidFill>
            <a:srgbClr val="19324D"/>
          </a:solidFill>
          <a:ln/>
        </p:spPr>
        <p:txBody>
          <a:bodyPr wrap="square" lIns="0" tIns="0" rIns="0" bIns="0" rtlCol="0" anchor="ctr"/>
          <a:lstStyle/>
          <a:p>
            <a:pPr marL="0" indent="0" algn="ctr">
              <a:buNone/>
            </a:pPr>
            <a:r>
              <a:rPr lang="en-US" sz="2200" b="1" dirty="0">
                <a:solidFill>
                  <a:srgbClr val="FFFFFF"/>
                </a:solidFill>
              </a:rPr>
              <a:t>1</a:t>
            </a:r>
            <a:endParaRPr lang="en-US" sz="2200" dirty="0"/>
          </a:p>
        </p:txBody>
      </p:sp>
      <p:sp>
        <p:nvSpPr>
          <p:cNvPr id="5" name="Shape 3"/>
          <p:cNvSpPr/>
          <p:nvPr/>
        </p:nvSpPr>
        <p:spPr>
          <a:xfrm>
            <a:off x="2096719" y="2103120"/>
            <a:ext cx="1340510" cy="0"/>
          </a:xfrm>
          <a:prstGeom prst="line">
            <a:avLst/>
          </a:prstGeom>
          <a:noFill/>
          <a:ln w="22225">
            <a:solidFill>
              <a:srgbClr val="24A699"/>
            </a:solidFill>
            <a:prstDash val="solid"/>
            <a:tailEnd type="triangle"/>
          </a:ln>
        </p:spPr>
      </p:sp>
      <p:sp>
        <p:nvSpPr>
          <p:cNvPr id="6" name="Text 4"/>
          <p:cNvSpPr txBox="1"/>
          <p:nvPr/>
        </p:nvSpPr>
        <p:spPr>
          <a:xfrm>
            <a:off x="606247" y="2606040"/>
            <a:ext cx="2103120" cy="365760"/>
          </a:xfrm>
          <a:prstGeom prst="rect">
            <a:avLst/>
          </a:prstGeom>
          <a:noFill/>
          <a:ln/>
        </p:spPr>
        <p:txBody>
          <a:bodyPr wrap="square" lIns="0" tIns="0" rIns="0" bIns="0" rtlCol="0" anchor="t"/>
          <a:lstStyle/>
          <a:p>
            <a:pPr marL="0" indent="0" algn="ctr">
              <a:buNone/>
            </a:pPr>
            <a:r>
              <a:rPr lang="en-US" sz="1700" b="1" dirty="0">
                <a:solidFill>
                  <a:schemeClr val="tx2"/>
                </a:solidFill>
              </a:rPr>
              <a:t>Choose a role</a:t>
            </a:r>
            <a:endParaRPr lang="en-US" sz="1700" dirty="0"/>
          </a:p>
        </p:txBody>
      </p:sp>
      <p:sp>
        <p:nvSpPr>
          <p:cNvPr id="7" name="Text 5"/>
          <p:cNvSpPr txBox="1"/>
          <p:nvPr/>
        </p:nvSpPr>
        <p:spPr>
          <a:xfrm>
            <a:off x="651967" y="2971800"/>
            <a:ext cx="2011680" cy="777240"/>
          </a:xfrm>
          <a:prstGeom prst="rect">
            <a:avLst/>
          </a:prstGeom>
          <a:noFill/>
          <a:ln/>
        </p:spPr>
        <p:txBody>
          <a:bodyPr wrap="square" lIns="0" tIns="0" rIns="0" bIns="0" rtlCol="0" anchor="t"/>
          <a:lstStyle/>
          <a:p>
            <a:pPr marL="0" indent="0" algn="ctr">
              <a:buNone/>
            </a:pPr>
            <a:r>
              <a:rPr lang="en-US" sz="1350" dirty="0">
                <a:solidFill>
                  <a:schemeClr val="accent5"/>
                </a:solidFill>
              </a:rPr>
              <a:t>13 roles or a custom one, plus an optional target company</a:t>
            </a:r>
            <a:endParaRPr lang="en-US" sz="1350" dirty="0"/>
          </a:p>
        </p:txBody>
      </p:sp>
      <p:sp>
        <p:nvSpPr>
          <p:cNvPr id="8" name="Badge 2"/>
          <p:cNvSpPr/>
          <p:nvPr/>
        </p:nvSpPr>
        <p:spPr>
          <a:xfrm>
            <a:off x="3546958" y="1773936"/>
            <a:ext cx="658368" cy="658368"/>
          </a:xfrm>
          <a:prstGeom prst="ellipse">
            <a:avLst/>
          </a:prstGeom>
          <a:solidFill>
            <a:srgbClr val="24A699"/>
          </a:solidFill>
          <a:ln/>
        </p:spPr>
        <p:txBody>
          <a:bodyPr wrap="square" lIns="0" tIns="0" rIns="0" bIns="0" rtlCol="0" anchor="ctr"/>
          <a:lstStyle/>
          <a:p>
            <a:pPr marL="0" indent="0" algn="ctr">
              <a:buNone/>
            </a:pPr>
            <a:r>
              <a:rPr lang="en-US" sz="2200" b="1" dirty="0">
                <a:solidFill>
                  <a:srgbClr val="FFFFFF"/>
                </a:solidFill>
              </a:rPr>
              <a:t>2</a:t>
            </a:r>
            <a:endParaRPr lang="en-US" sz="2200" dirty="0"/>
          </a:p>
        </p:txBody>
      </p:sp>
      <p:sp>
        <p:nvSpPr>
          <p:cNvPr id="9" name="Shape 7"/>
          <p:cNvSpPr/>
          <p:nvPr/>
        </p:nvSpPr>
        <p:spPr>
          <a:xfrm>
            <a:off x="4315054" y="2103120"/>
            <a:ext cx="1340510" cy="0"/>
          </a:xfrm>
          <a:prstGeom prst="line">
            <a:avLst/>
          </a:prstGeom>
          <a:noFill/>
          <a:ln w="22225">
            <a:solidFill>
              <a:srgbClr val="24A699"/>
            </a:solidFill>
            <a:prstDash val="solid"/>
            <a:tailEnd type="triangle"/>
          </a:ln>
        </p:spPr>
      </p:sp>
      <p:sp>
        <p:nvSpPr>
          <p:cNvPr id="10" name="Text 8"/>
          <p:cNvSpPr txBox="1"/>
          <p:nvPr/>
        </p:nvSpPr>
        <p:spPr>
          <a:xfrm>
            <a:off x="2824582" y="2606040"/>
            <a:ext cx="2103120" cy="365760"/>
          </a:xfrm>
          <a:prstGeom prst="rect">
            <a:avLst/>
          </a:prstGeom>
          <a:noFill/>
          <a:ln/>
        </p:spPr>
        <p:txBody>
          <a:bodyPr wrap="square" lIns="0" tIns="0" rIns="0" bIns="0" rtlCol="0" anchor="t"/>
          <a:lstStyle/>
          <a:p>
            <a:pPr marL="0" indent="0" algn="ctr">
              <a:buNone/>
            </a:pPr>
            <a:r>
              <a:rPr lang="en-US" sz="1700" b="1" dirty="0">
                <a:solidFill>
                  <a:schemeClr val="accent4"/>
                </a:solidFill>
              </a:rPr>
              <a:t>Add your skills</a:t>
            </a:r>
            <a:endParaRPr lang="en-US" sz="1700" dirty="0"/>
          </a:p>
        </p:txBody>
      </p:sp>
      <p:sp>
        <p:nvSpPr>
          <p:cNvPr id="11" name="Text 9"/>
          <p:cNvSpPr txBox="1"/>
          <p:nvPr/>
        </p:nvSpPr>
        <p:spPr>
          <a:xfrm>
            <a:off x="2870302" y="2971800"/>
            <a:ext cx="2011680" cy="777240"/>
          </a:xfrm>
          <a:prstGeom prst="rect">
            <a:avLst/>
          </a:prstGeom>
          <a:noFill/>
          <a:ln/>
        </p:spPr>
        <p:txBody>
          <a:bodyPr wrap="square" lIns="0" tIns="0" rIns="0" bIns="0" rtlCol="0" anchor="t"/>
          <a:lstStyle/>
          <a:p>
            <a:pPr marL="0" indent="0" algn="ctr">
              <a:buNone/>
            </a:pPr>
            <a:r>
              <a:rPr lang="en-US" sz="1350" dirty="0">
                <a:solidFill>
                  <a:schemeClr val="accent5"/>
                </a:solidFill>
              </a:rPr>
              <a:t>Pick and self-rate them, or import from a resume or GitHub</a:t>
            </a:r>
            <a:endParaRPr lang="en-US" sz="1350" dirty="0"/>
          </a:p>
        </p:txBody>
      </p:sp>
      <p:sp>
        <p:nvSpPr>
          <p:cNvPr id="12" name="Badge 3"/>
          <p:cNvSpPr/>
          <p:nvPr/>
        </p:nvSpPr>
        <p:spPr>
          <a:xfrm>
            <a:off x="5765292" y="1773936"/>
            <a:ext cx="658368" cy="658368"/>
          </a:xfrm>
          <a:prstGeom prst="ellipse">
            <a:avLst/>
          </a:prstGeom>
          <a:solidFill>
            <a:srgbClr val="19324D"/>
          </a:solidFill>
          <a:ln/>
        </p:spPr>
        <p:txBody>
          <a:bodyPr wrap="square" lIns="0" tIns="0" rIns="0" bIns="0" rtlCol="0" anchor="ctr"/>
          <a:lstStyle/>
          <a:p>
            <a:pPr marL="0" indent="0" algn="ctr">
              <a:buNone/>
            </a:pPr>
            <a:r>
              <a:rPr lang="en-US" sz="2200" b="1" dirty="0">
                <a:solidFill>
                  <a:srgbClr val="FFFFFF"/>
                </a:solidFill>
              </a:rPr>
              <a:t>3</a:t>
            </a:r>
            <a:endParaRPr lang="en-US" sz="2200" dirty="0"/>
          </a:p>
        </p:txBody>
      </p:sp>
      <p:sp>
        <p:nvSpPr>
          <p:cNvPr id="13" name="Shape 11"/>
          <p:cNvSpPr/>
          <p:nvPr/>
        </p:nvSpPr>
        <p:spPr>
          <a:xfrm>
            <a:off x="6533388" y="2103120"/>
            <a:ext cx="1340510" cy="0"/>
          </a:xfrm>
          <a:prstGeom prst="line">
            <a:avLst/>
          </a:prstGeom>
          <a:noFill/>
          <a:ln w="22225">
            <a:solidFill>
              <a:srgbClr val="24A699"/>
            </a:solidFill>
            <a:prstDash val="solid"/>
            <a:tailEnd type="triangle"/>
          </a:ln>
        </p:spPr>
      </p:sp>
      <p:sp>
        <p:nvSpPr>
          <p:cNvPr id="14" name="Text 12"/>
          <p:cNvSpPr txBox="1"/>
          <p:nvPr/>
        </p:nvSpPr>
        <p:spPr>
          <a:xfrm>
            <a:off x="5042916" y="2606040"/>
            <a:ext cx="2103120" cy="365760"/>
          </a:xfrm>
          <a:prstGeom prst="rect">
            <a:avLst/>
          </a:prstGeom>
          <a:noFill/>
          <a:ln/>
        </p:spPr>
        <p:txBody>
          <a:bodyPr wrap="square" lIns="0" tIns="0" rIns="0" bIns="0" rtlCol="0" anchor="t"/>
          <a:lstStyle/>
          <a:p>
            <a:pPr marL="0" indent="0" algn="ctr">
              <a:buNone/>
            </a:pPr>
            <a:r>
              <a:rPr lang="en-US" sz="1700" b="1" dirty="0">
                <a:solidFill>
                  <a:schemeClr val="tx2"/>
                </a:solidFill>
              </a:rPr>
              <a:t>Analyse the gap</a:t>
            </a:r>
            <a:endParaRPr lang="en-US" sz="1700" dirty="0"/>
          </a:p>
        </p:txBody>
      </p:sp>
      <p:sp>
        <p:nvSpPr>
          <p:cNvPr id="15" name="Text 13"/>
          <p:cNvSpPr txBox="1"/>
          <p:nvPr/>
        </p:nvSpPr>
        <p:spPr>
          <a:xfrm>
            <a:off x="5088636" y="2971800"/>
            <a:ext cx="2011680" cy="777240"/>
          </a:xfrm>
          <a:prstGeom prst="rect">
            <a:avLst/>
          </a:prstGeom>
          <a:noFill/>
          <a:ln/>
        </p:spPr>
        <p:txBody>
          <a:bodyPr wrap="square" lIns="0" tIns="0" rIns="0" bIns="0" rtlCol="0" anchor="t"/>
          <a:lstStyle/>
          <a:p>
            <a:pPr marL="0" indent="0" algn="ctr">
              <a:buNone/>
            </a:pPr>
            <a:r>
              <a:rPr lang="en-US" sz="1350" dirty="0">
                <a:solidFill>
                  <a:schemeClr val="accent5"/>
                </a:solidFill>
              </a:rPr>
              <a:t>Readiness score out of 100, gaps ranked by priority</a:t>
            </a:r>
            <a:endParaRPr lang="en-US" sz="1350" dirty="0"/>
          </a:p>
        </p:txBody>
      </p:sp>
      <p:sp>
        <p:nvSpPr>
          <p:cNvPr id="16" name="Badge 4"/>
          <p:cNvSpPr/>
          <p:nvPr/>
        </p:nvSpPr>
        <p:spPr>
          <a:xfrm>
            <a:off x="7983626" y="1773936"/>
            <a:ext cx="658368" cy="658368"/>
          </a:xfrm>
          <a:prstGeom prst="ellipse">
            <a:avLst/>
          </a:prstGeom>
          <a:solidFill>
            <a:srgbClr val="24A699"/>
          </a:solidFill>
          <a:ln/>
        </p:spPr>
        <p:txBody>
          <a:bodyPr wrap="square" lIns="0" tIns="0" rIns="0" bIns="0" rtlCol="0" anchor="ctr"/>
          <a:lstStyle/>
          <a:p>
            <a:pPr marL="0" indent="0" algn="ctr">
              <a:buNone/>
            </a:pPr>
            <a:r>
              <a:rPr lang="en-US" sz="2200" b="1" dirty="0">
                <a:solidFill>
                  <a:srgbClr val="FFFFFF"/>
                </a:solidFill>
              </a:rPr>
              <a:t>4</a:t>
            </a:r>
            <a:endParaRPr lang="en-US" sz="2200" dirty="0"/>
          </a:p>
        </p:txBody>
      </p:sp>
      <p:sp>
        <p:nvSpPr>
          <p:cNvPr id="17" name="Shape 15"/>
          <p:cNvSpPr/>
          <p:nvPr/>
        </p:nvSpPr>
        <p:spPr>
          <a:xfrm>
            <a:off x="8751722" y="2103120"/>
            <a:ext cx="1340510" cy="0"/>
          </a:xfrm>
          <a:prstGeom prst="line">
            <a:avLst/>
          </a:prstGeom>
          <a:noFill/>
          <a:ln w="22225">
            <a:solidFill>
              <a:srgbClr val="24A699"/>
            </a:solidFill>
            <a:prstDash val="solid"/>
            <a:tailEnd type="triangle"/>
          </a:ln>
        </p:spPr>
      </p:sp>
      <p:sp>
        <p:nvSpPr>
          <p:cNvPr id="18" name="Text 16"/>
          <p:cNvSpPr txBox="1"/>
          <p:nvPr/>
        </p:nvSpPr>
        <p:spPr>
          <a:xfrm>
            <a:off x="7261250" y="2606040"/>
            <a:ext cx="2103120" cy="365760"/>
          </a:xfrm>
          <a:prstGeom prst="rect">
            <a:avLst/>
          </a:prstGeom>
          <a:noFill/>
          <a:ln/>
        </p:spPr>
        <p:txBody>
          <a:bodyPr wrap="square" lIns="0" tIns="0" rIns="0" bIns="0" rtlCol="0" anchor="t"/>
          <a:lstStyle/>
          <a:p>
            <a:pPr marL="0" indent="0" algn="ctr">
              <a:buNone/>
            </a:pPr>
            <a:r>
              <a:rPr lang="en-US" sz="1700" b="1" dirty="0">
                <a:solidFill>
                  <a:schemeClr val="accent4"/>
                </a:solidFill>
              </a:rPr>
              <a:t>Get a roadmap</a:t>
            </a:r>
            <a:endParaRPr lang="en-US" sz="1700" dirty="0"/>
          </a:p>
        </p:txBody>
      </p:sp>
      <p:sp>
        <p:nvSpPr>
          <p:cNvPr id="19" name="Text 17"/>
          <p:cNvSpPr txBox="1"/>
          <p:nvPr/>
        </p:nvSpPr>
        <p:spPr>
          <a:xfrm>
            <a:off x="7306970" y="2971800"/>
            <a:ext cx="2011680" cy="777240"/>
          </a:xfrm>
          <a:prstGeom prst="rect">
            <a:avLst/>
          </a:prstGeom>
          <a:noFill/>
          <a:ln/>
        </p:spPr>
        <p:txBody>
          <a:bodyPr wrap="square" lIns="0" tIns="0" rIns="0" bIns="0" rtlCol="0" anchor="t"/>
          <a:lstStyle/>
          <a:p>
            <a:pPr marL="0" indent="0" algn="ctr">
              <a:buNone/>
            </a:pPr>
            <a:r>
              <a:rPr lang="en-US" sz="1350" dirty="0">
                <a:solidFill>
                  <a:schemeClr val="accent5"/>
                </a:solidFill>
              </a:rPr>
              <a:t>Week-by-week phases in prerequisite order</a:t>
            </a:r>
            <a:endParaRPr lang="en-US" sz="1350" dirty="0"/>
          </a:p>
        </p:txBody>
      </p:sp>
      <p:sp>
        <p:nvSpPr>
          <p:cNvPr id="20" name="Badge 5"/>
          <p:cNvSpPr/>
          <p:nvPr/>
        </p:nvSpPr>
        <p:spPr>
          <a:xfrm>
            <a:off x="10201961" y="1773936"/>
            <a:ext cx="658368" cy="658368"/>
          </a:xfrm>
          <a:prstGeom prst="ellipse">
            <a:avLst/>
          </a:prstGeom>
          <a:solidFill>
            <a:srgbClr val="19324D"/>
          </a:solidFill>
          <a:ln/>
        </p:spPr>
        <p:txBody>
          <a:bodyPr wrap="square" lIns="0" tIns="0" rIns="0" bIns="0" rtlCol="0" anchor="ctr"/>
          <a:lstStyle/>
          <a:p>
            <a:pPr marL="0" indent="0" algn="ctr">
              <a:buNone/>
            </a:pPr>
            <a:r>
              <a:rPr lang="en-US" sz="2200" b="1" dirty="0">
                <a:solidFill>
                  <a:srgbClr val="FFFFFF"/>
                </a:solidFill>
              </a:rPr>
              <a:t>5</a:t>
            </a:r>
            <a:endParaRPr lang="en-US" sz="2200" dirty="0"/>
          </a:p>
        </p:txBody>
      </p:sp>
      <p:sp>
        <p:nvSpPr>
          <p:cNvPr id="21" name="Text 19"/>
          <p:cNvSpPr txBox="1"/>
          <p:nvPr/>
        </p:nvSpPr>
        <p:spPr>
          <a:xfrm>
            <a:off x="9479585" y="2606040"/>
            <a:ext cx="2103120" cy="365760"/>
          </a:xfrm>
          <a:prstGeom prst="rect">
            <a:avLst/>
          </a:prstGeom>
          <a:noFill/>
          <a:ln/>
        </p:spPr>
        <p:txBody>
          <a:bodyPr wrap="square" lIns="0" tIns="0" rIns="0" bIns="0" rtlCol="0" anchor="t"/>
          <a:lstStyle/>
          <a:p>
            <a:pPr marL="0" indent="0" algn="ctr">
              <a:buNone/>
            </a:pPr>
            <a:r>
              <a:rPr lang="en-US" sz="1700" b="1" dirty="0">
                <a:solidFill>
                  <a:schemeClr val="tx2"/>
                </a:solidFill>
              </a:rPr>
              <a:t>Prove progress</a:t>
            </a:r>
            <a:endParaRPr lang="en-US" sz="1700" dirty="0"/>
          </a:p>
        </p:txBody>
      </p:sp>
      <p:sp>
        <p:nvSpPr>
          <p:cNvPr id="22" name="Text 20"/>
          <p:cNvSpPr txBox="1"/>
          <p:nvPr/>
        </p:nvSpPr>
        <p:spPr>
          <a:xfrm>
            <a:off x="9525305" y="2971800"/>
            <a:ext cx="2011680" cy="777240"/>
          </a:xfrm>
          <a:prstGeom prst="rect">
            <a:avLst/>
          </a:prstGeom>
          <a:noFill/>
          <a:ln/>
        </p:spPr>
        <p:txBody>
          <a:bodyPr wrap="square" lIns="0" tIns="0" rIns="0" bIns="0" rtlCol="0" anchor="t"/>
          <a:lstStyle/>
          <a:p>
            <a:pPr marL="0" indent="0" algn="ctr">
              <a:buNone/>
            </a:pPr>
            <a:r>
              <a:rPr lang="en-US" sz="1350" dirty="0">
                <a:solidFill>
                  <a:schemeClr val="accent5"/>
                </a:solidFill>
              </a:rPr>
              <a:t>Assessments update skill levels and re-plan the roadmap</a:t>
            </a:r>
            <a:endParaRPr lang="en-US" sz="13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1091672" cy="2103120"/>
        </p:xfrm>
        <a:graphic>
          <a:graphicData uri="http://schemas.openxmlformats.org/drawingml/2006/table">
            <a:tbl>
              <a:tblPr/>
              <a:tblGrid>
                <a:gridCol w="4206240">
                  <a:extLst>
                    <a:ext uri="{9D8B030D-6E8A-4147-A177-3AD203B41FA5}">
                      <a16:colId xmlns:a16="http://schemas.microsoft.com/office/drawing/2014/main" val="20000"/>
                    </a:ext>
                  </a:extLst>
                </a:gridCol>
                <a:gridCol w="6885432">
                  <a:extLst>
                    <a:ext uri="{9D8B030D-6E8A-4147-A177-3AD203B41FA5}">
                      <a16:colId xmlns:a16="http://schemas.microsoft.com/office/drawing/2014/main" val="20001"/>
                    </a:ext>
                  </a:extLst>
                </a:gridCol>
              </a:tblGrid>
              <a:tr h="420624">
                <a:tc>
                  <a:txBody>
                    <a:bodyPr/>
                    <a:lstStyle/>
                    <a:p>
                      <a:pPr marL="0" indent="0">
                        <a:buNone/>
                      </a:pPr>
                      <a:r>
                        <a:rPr lang="en-US" sz="1600" b="1" dirty="0">
                          <a:solidFill>
                            <a:srgbClr val="4F5D6B"/>
                          </a:solidFill>
                        </a:rPr>
                        <a:t>Without a plan</a:t>
                      </a:r>
                      <a:endParaRPr lang="en-US" sz="1600" dirty="0"/>
                    </a:p>
                  </a:txBody>
                  <a:tcPr marL="127000" marR="127000" marT="50800" marB="50800" anchor="ctr">
                    <a:lnL w="0" cap="flat" cmpd="sng" algn="ctr">
                      <a:noFill/>
                    </a:lnL>
                    <a:lnR w="0" cap="flat" cmpd="sng" algn="ctr">
                      <a:noFill/>
                    </a:lnR>
                    <a:lnT w="0" cap="flat" cmpd="sng" algn="ctr">
                      <a:noFill/>
                    </a:lnT>
                    <a:lnB w="0" cap="flat" cmpd="sng" algn="ctr">
                      <a:noFill/>
                    </a:lnB>
                    <a:solidFill>
                      <a:srgbClr val="EEF5FB"/>
                    </a:solidFill>
                  </a:tcPr>
                </a:tc>
                <a:tc>
                  <a:txBody>
                    <a:bodyPr/>
                    <a:lstStyle/>
                    <a:p>
                      <a:pPr marL="0" indent="0">
                        <a:buNone/>
                      </a:pPr>
                      <a:r>
                        <a:rPr lang="en-US" sz="1600" b="1" dirty="0">
                          <a:solidFill>
                            <a:srgbClr val="FFFFFF"/>
                          </a:solidFill>
                        </a:rPr>
                        <a:t>With SkillGap Analyzer</a:t>
                      </a:r>
                      <a:endParaRPr lang="en-US" sz="1600" dirty="0"/>
                    </a:p>
                  </a:txBody>
                  <a:tcPr marL="127000" marR="127000" marT="50800" marB="50800" anchor="ctr">
                    <a:lnL w="0" cap="flat" cmpd="sng" algn="ctr">
                      <a:noFill/>
                    </a:lnL>
                    <a:lnR w="0" cap="flat" cmpd="sng" algn="ctr">
                      <a:noFill/>
                    </a:lnR>
                    <a:lnT w="0" cap="flat" cmpd="sng" algn="ctr">
                      <a:noFill/>
                    </a:lnT>
                    <a:lnB w="0" cap="flat" cmpd="sng" algn="ctr">
                      <a:noFill/>
                    </a:lnB>
                    <a:solidFill>
                      <a:srgbClr val="19324D"/>
                    </a:solidFill>
                  </a:tcPr>
                </a:tc>
                <a:extLst>
                  <a:ext uri="{0D108BD9-81ED-4DB2-BD59-A6C34878D82A}">
                    <a16:rowId xmlns:a16="http://schemas.microsoft.com/office/drawing/2014/main" val="10000"/>
                  </a:ext>
                </a:extLst>
              </a:tr>
              <a:tr h="420624">
                <a:tc>
                  <a:txBody>
                    <a:bodyPr/>
                    <a:lstStyle/>
                    <a:p>
                      <a:pPr marL="0" indent="0">
                        <a:buNone/>
                      </a:pPr>
                      <a:r>
                        <a:rPr lang="en-US" sz="1600" dirty="0">
                          <a:solidFill>
                            <a:srgbClr val="4F5D6B"/>
                          </a:solidFill>
                        </a:rPr>
                        <a:t>Guess which skills a role needs</a:t>
                      </a:r>
                      <a:endParaRPr lang="en-US" sz="1600" dirty="0"/>
                    </a:p>
                  </a:txBody>
                  <a:tcPr marL="127000" marR="127000" marT="50800" marB="50800" anchor="ctr">
                    <a:lnL w="0" cap="flat" cmpd="sng" algn="ctr">
                      <a:noFill/>
                    </a:lnL>
                    <a:lnR w="0" cap="flat" cmpd="sng" algn="ctr">
                      <a:noFill/>
                    </a:lnR>
                    <a:lnT w="0" cap="flat" cmpd="sng" algn="ctr">
                      <a:noFill/>
                    </a:lnT>
                    <a:lnB w="9525" cap="flat" cmpd="sng" algn="ctr">
                      <a:solidFill>
                        <a:srgbClr val="C9D6E3"/>
                      </a:solidFill>
                      <a:prstDash val="solid"/>
                      <a:round/>
                      <a:headEnd type="none" w="med" len="med"/>
                      <a:tailEnd type="none" w="med" len="med"/>
                    </a:lnB>
                  </a:tcPr>
                </a:tc>
                <a:tc>
                  <a:txBody>
                    <a:bodyPr/>
                    <a:lstStyle/>
                    <a:p>
                      <a:pPr marL="0" indent="0">
                        <a:buNone/>
                      </a:pPr>
                      <a:r>
                        <a:rPr lang="en-US" sz="1600" b="1" dirty="0">
                          <a:solidFill>
                            <a:srgbClr val="24A699"/>
                          </a:solidFill>
                        </a:rPr>
                        <a:t>✓  </a:t>
                      </a:r>
                      <a:r>
                        <a:rPr lang="en-US" sz="1600" dirty="0">
                          <a:solidFill>
                            <a:srgbClr val="1F2A37"/>
                          </a:solidFill>
                        </a:rPr>
                        <a:t>Each role lists its required skills and target levels</a:t>
                      </a:r>
                      <a:endParaRPr lang="en-US" sz="1600" dirty="0"/>
                    </a:p>
                  </a:txBody>
                  <a:tcPr marL="127000" marR="127000" marT="50800" marB="50800" anchor="ctr">
                    <a:lnL w="0" cap="flat" cmpd="sng" algn="ctr">
                      <a:noFill/>
                    </a:lnL>
                    <a:lnR w="0" cap="flat" cmpd="sng" algn="ctr">
                      <a:noFill/>
                    </a:lnR>
                    <a:lnT w="0" cap="flat" cmpd="sng" algn="ctr">
                      <a:noFill/>
                    </a:lnT>
                    <a:lnB w="9525" cap="flat" cmpd="sng" algn="ctr">
                      <a:solidFill>
                        <a:srgbClr val="C9D6E3"/>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600" dirty="0">
                          <a:solidFill>
                            <a:srgbClr val="4F5D6B"/>
                          </a:solidFill>
                        </a:rPr>
                        <a:t>Learn topics in any order</a:t>
                      </a:r>
                      <a:endParaRPr lang="en-US" sz="1600" dirty="0"/>
                    </a:p>
                  </a:txBody>
                  <a:tcPr marL="127000" marR="127000" marT="50800" marB="50800" anchor="ctr">
                    <a:lnL w="0" cap="flat" cmpd="sng" algn="ctr">
                      <a:noFill/>
                    </a:lnL>
                    <a:lnR w="0" cap="flat" cmpd="sng" algn="ctr">
                      <a:noFill/>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tcPr>
                </a:tc>
                <a:tc>
                  <a:txBody>
                    <a:bodyPr/>
                    <a:lstStyle/>
                    <a:p>
                      <a:pPr marL="0" indent="0">
                        <a:buNone/>
                      </a:pPr>
                      <a:r>
                        <a:rPr lang="en-US" sz="1600" b="1" dirty="0">
                          <a:solidFill>
                            <a:srgbClr val="24A699"/>
                          </a:solidFill>
                        </a:rPr>
                        <a:t>✓  </a:t>
                      </a:r>
                      <a:r>
                        <a:rPr lang="en-US" sz="1600" dirty="0">
                          <a:solidFill>
                            <a:srgbClr val="1F2A37"/>
                          </a:solidFill>
                        </a:rPr>
                        <a:t>Prerequisites always come before the skills that need them</a:t>
                      </a:r>
                      <a:endParaRPr lang="en-US" sz="1600" dirty="0"/>
                    </a:p>
                  </a:txBody>
                  <a:tcPr marL="127000" marR="127000" marT="50800" marB="50800" anchor="ctr">
                    <a:lnL w="0" cap="flat" cmpd="sng" algn="ctr">
                      <a:noFill/>
                    </a:lnL>
                    <a:lnR w="0" cap="flat" cmpd="sng" algn="ctr">
                      <a:noFill/>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600" dirty="0">
                          <a:solidFill>
                            <a:srgbClr val="4F5D6B"/>
                          </a:solidFill>
                        </a:rPr>
                        <a:t>No way to tell if you are improving</a:t>
                      </a:r>
                      <a:endParaRPr lang="en-US" sz="1600" dirty="0"/>
                    </a:p>
                  </a:txBody>
                  <a:tcPr marL="127000" marR="127000" marT="50800" marB="50800" anchor="ctr">
                    <a:lnL w="0" cap="flat" cmpd="sng" algn="ctr">
                      <a:noFill/>
                    </a:lnL>
                    <a:lnR w="0" cap="flat" cmpd="sng" algn="ctr">
                      <a:noFill/>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tcPr>
                </a:tc>
                <a:tc>
                  <a:txBody>
                    <a:bodyPr/>
                    <a:lstStyle/>
                    <a:p>
                      <a:pPr marL="0" indent="0">
                        <a:buNone/>
                      </a:pPr>
                      <a:r>
                        <a:rPr lang="en-US" sz="1600" b="1" dirty="0">
                          <a:solidFill>
                            <a:srgbClr val="24A699"/>
                          </a:solidFill>
                        </a:rPr>
                        <a:t>✓  </a:t>
                      </a:r>
                      <a:r>
                        <a:rPr lang="en-US" sz="1600" dirty="0">
                          <a:solidFill>
                            <a:srgbClr val="1F2A37"/>
                          </a:solidFill>
                        </a:rPr>
                        <a:t>Readiness score changes after assessments and finished work</a:t>
                      </a:r>
                      <a:endParaRPr lang="en-US" sz="1600" dirty="0"/>
                    </a:p>
                  </a:txBody>
                  <a:tcPr marL="127000" marR="127000" marT="50800" marB="50800" anchor="ctr">
                    <a:lnL w="0" cap="flat" cmpd="sng" algn="ctr">
                      <a:noFill/>
                    </a:lnL>
                    <a:lnR w="0" cap="flat" cmpd="sng" algn="ctr">
                      <a:noFill/>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600" dirty="0">
                          <a:solidFill>
                            <a:srgbClr val="4F5D6B"/>
                          </a:solidFill>
                        </a:rPr>
                        <a:t>Plans ignore the time you have</a:t>
                      </a:r>
                      <a:endParaRPr lang="en-US" sz="1600" dirty="0"/>
                    </a:p>
                  </a:txBody>
                  <a:tcPr marL="127000" marR="127000" marT="50800" marB="50800" anchor="ctr">
                    <a:lnL w="0" cap="flat" cmpd="sng" algn="ctr">
                      <a:noFill/>
                    </a:lnL>
                    <a:lnR w="0" cap="flat" cmpd="sng" algn="ctr">
                      <a:noFill/>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tcPr>
                </a:tc>
                <a:tc>
                  <a:txBody>
                    <a:bodyPr/>
                    <a:lstStyle/>
                    <a:p>
                      <a:pPr marL="0" indent="0">
                        <a:buNone/>
                      </a:pPr>
                      <a:r>
                        <a:rPr lang="en-US" sz="1600" b="1" dirty="0">
                          <a:solidFill>
                            <a:srgbClr val="24A699"/>
                          </a:solidFill>
                        </a:rPr>
                        <a:t>✓  </a:t>
                      </a:r>
                      <a:r>
                        <a:rPr lang="en-US" sz="1600" dirty="0">
                          <a:solidFill>
                            <a:srgbClr val="1F2A37"/>
                          </a:solidFill>
                        </a:rPr>
                        <a:t>Plan is sized to your daily hours and warns if it will not fit the deadline</a:t>
                      </a:r>
                      <a:endParaRPr lang="en-US" sz="1600" dirty="0"/>
                    </a:p>
                  </a:txBody>
                  <a:tcPr marL="127000" marR="127000" marT="50800" marB="50800" anchor="ctr">
                    <a:lnL w="0" cap="flat" cmpd="sng" algn="ctr">
                      <a:noFill/>
                    </a:lnL>
                    <a:lnR w="0" cap="flat" cmpd="sng" algn="ctr">
                      <a:noFill/>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C9AA8"/>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Who it is for</a:t>
            </a:r>
            <a:endParaRPr lang="en-US" sz="3000" dirty="0"/>
          </a:p>
        </p:txBody>
      </p:sp>
      <p:sp>
        <p:nvSpPr>
          <p:cNvPr id="3" name="Text 1"/>
          <p:cNvSpPr txBox="1"/>
          <p:nvPr/>
        </p:nvSpPr>
        <p:spPr>
          <a:xfrm>
            <a:off x="548640" y="1234440"/>
            <a:ext cx="3566160" cy="365760"/>
          </a:xfrm>
          <a:prstGeom prst="rect">
            <a:avLst/>
          </a:prstGeom>
          <a:noFill/>
          <a:ln/>
        </p:spPr>
        <p:txBody>
          <a:bodyPr wrap="square" lIns="0" tIns="0" rIns="0" bIns="0" rtlCol="0" anchor="t"/>
          <a:lstStyle/>
          <a:p>
            <a:pPr marL="0" indent="0">
              <a:buNone/>
            </a:pPr>
            <a:r>
              <a:rPr lang="en-US" sz="2000" b="1" dirty="0">
                <a:solidFill>
                  <a:schemeClr val="tx2"/>
                </a:solidFill>
              </a:rPr>
              <a:t>Who uses it</a:t>
            </a:r>
            <a:endParaRPr lang="en-US" sz="2000" dirty="0"/>
          </a:p>
        </p:txBody>
      </p:sp>
      <p:sp>
        <p:nvSpPr>
          <p:cNvPr id="4" name="College students icon circle"/>
          <p:cNvSpPr/>
          <p:nvPr/>
        </p:nvSpPr>
        <p:spPr>
          <a:xfrm>
            <a:off x="548640" y="1783080"/>
            <a:ext cx="566928" cy="566928"/>
          </a:xfrm>
          <a:prstGeom prst="ellipse">
            <a:avLst/>
          </a:prstGeom>
          <a:solidFill>
            <a:schemeClr val="bg2"/>
          </a:solidFill>
          <a:ln/>
        </p:spPr>
      </p:sp>
      <p:pic>
        <p:nvPicPr>
          <p:cNvPr id="5" name="Image 0" descr="College students icon"/>
          <p:cNvPicPr>
            <a:picLocks noChangeAspect="1"/>
          </p:cNvPicPr>
          <p:nvPr/>
        </p:nvPicPr>
        <p:blipFill>
          <a:blip r:embed="rId3"/>
          <a:stretch>
            <a:fillRect/>
          </a:stretch>
        </p:blipFill>
        <p:spPr>
          <a:xfrm>
            <a:off x="676656" y="1911096"/>
            <a:ext cx="310896" cy="310896"/>
          </a:xfrm>
          <a:prstGeom prst="rect">
            <a:avLst/>
          </a:prstGeom>
        </p:spPr>
      </p:pic>
      <p:sp>
        <p:nvSpPr>
          <p:cNvPr id="6" name="Text 3"/>
          <p:cNvSpPr txBox="1"/>
          <p:nvPr/>
        </p:nvSpPr>
        <p:spPr>
          <a:xfrm>
            <a:off x="1298448" y="1801368"/>
            <a:ext cx="2743200" cy="868680"/>
          </a:xfrm>
          <a:prstGeom prst="rect">
            <a:avLst/>
          </a:prstGeom>
          <a:noFill/>
          <a:ln/>
        </p:spPr>
        <p:txBody>
          <a:bodyPr wrap="square" lIns="0" tIns="0" rIns="0" bIns="0" rtlCol="0" anchor="t"/>
          <a:lstStyle/>
          <a:p>
            <a:pPr marL="0" indent="0">
              <a:buNone/>
            </a:pPr>
            <a:r>
              <a:rPr lang="en-US" sz="1700" b="1" dirty="0">
                <a:solidFill>
                  <a:schemeClr val="tx2"/>
                </a:solidFill>
              </a:rPr>
              <a:t>College students</a:t>
            </a:r>
            <a:endParaRPr lang="en-US" sz="1700" dirty="0"/>
          </a:p>
          <a:p>
            <a:pPr marL="0" indent="0">
              <a:spcBef>
                <a:spcPts val="200"/>
              </a:spcBef>
              <a:buNone/>
            </a:pPr>
            <a:r>
              <a:rPr lang="en-US" sz="1400" dirty="0">
                <a:solidFill>
                  <a:schemeClr val="accent5"/>
                </a:solidFill>
              </a:rPr>
              <a:t>Preparing for campus placements</a:t>
            </a:r>
            <a:endParaRPr lang="en-US" sz="1700" dirty="0"/>
          </a:p>
        </p:txBody>
      </p:sp>
      <p:sp>
        <p:nvSpPr>
          <p:cNvPr id="7" name="Fresh graduates icon circle"/>
          <p:cNvSpPr/>
          <p:nvPr/>
        </p:nvSpPr>
        <p:spPr>
          <a:xfrm>
            <a:off x="548640" y="2834640"/>
            <a:ext cx="566928" cy="566928"/>
          </a:xfrm>
          <a:prstGeom prst="ellipse">
            <a:avLst/>
          </a:prstGeom>
          <a:solidFill>
            <a:schemeClr val="bg2"/>
          </a:solidFill>
          <a:ln/>
        </p:spPr>
      </p:sp>
      <p:pic>
        <p:nvPicPr>
          <p:cNvPr id="8" name="Image 1" descr="Fresh graduates icon"/>
          <p:cNvPicPr>
            <a:picLocks noChangeAspect="1"/>
          </p:cNvPicPr>
          <p:nvPr/>
        </p:nvPicPr>
        <p:blipFill>
          <a:blip r:embed="rId4"/>
          <a:stretch>
            <a:fillRect/>
          </a:stretch>
        </p:blipFill>
        <p:spPr>
          <a:xfrm>
            <a:off x="676656" y="2962656"/>
            <a:ext cx="310896" cy="310896"/>
          </a:xfrm>
          <a:prstGeom prst="rect">
            <a:avLst/>
          </a:prstGeom>
        </p:spPr>
      </p:pic>
      <p:sp>
        <p:nvSpPr>
          <p:cNvPr id="9" name="Text 5"/>
          <p:cNvSpPr txBox="1"/>
          <p:nvPr/>
        </p:nvSpPr>
        <p:spPr>
          <a:xfrm>
            <a:off x="1298448" y="2852928"/>
            <a:ext cx="2743200" cy="868680"/>
          </a:xfrm>
          <a:prstGeom prst="rect">
            <a:avLst/>
          </a:prstGeom>
          <a:noFill/>
          <a:ln/>
        </p:spPr>
        <p:txBody>
          <a:bodyPr wrap="square" lIns="0" tIns="0" rIns="0" bIns="0" rtlCol="0" anchor="t"/>
          <a:lstStyle/>
          <a:p>
            <a:pPr marL="0" indent="0">
              <a:buNone/>
            </a:pPr>
            <a:r>
              <a:rPr lang="en-US" sz="1700" b="1" dirty="0">
                <a:solidFill>
                  <a:schemeClr val="tx2"/>
                </a:solidFill>
              </a:rPr>
              <a:t>Fresh graduates</a:t>
            </a:r>
            <a:endParaRPr lang="en-US" sz="1700" dirty="0"/>
          </a:p>
          <a:p>
            <a:pPr marL="0" indent="0">
              <a:spcBef>
                <a:spcPts val="200"/>
              </a:spcBef>
              <a:buNone/>
            </a:pPr>
            <a:r>
              <a:rPr lang="en-US" sz="1400" dirty="0">
                <a:solidFill>
                  <a:schemeClr val="accent5"/>
                </a:solidFill>
              </a:rPr>
              <a:t>Aiming for a first job role</a:t>
            </a:r>
            <a:endParaRPr lang="en-US" sz="1700" dirty="0"/>
          </a:p>
        </p:txBody>
      </p:sp>
      <p:sp>
        <p:nvSpPr>
          <p:cNvPr id="10" name="Career switchers icon circle"/>
          <p:cNvSpPr/>
          <p:nvPr/>
        </p:nvSpPr>
        <p:spPr>
          <a:xfrm>
            <a:off x="548640" y="3886200"/>
            <a:ext cx="566928" cy="566928"/>
          </a:xfrm>
          <a:prstGeom prst="ellipse">
            <a:avLst/>
          </a:prstGeom>
          <a:solidFill>
            <a:schemeClr val="bg2"/>
          </a:solidFill>
          <a:ln/>
        </p:spPr>
      </p:sp>
      <p:pic>
        <p:nvPicPr>
          <p:cNvPr id="11" name="Image 2" descr="Career switchers icon"/>
          <p:cNvPicPr>
            <a:picLocks noChangeAspect="1"/>
          </p:cNvPicPr>
          <p:nvPr/>
        </p:nvPicPr>
        <p:blipFill>
          <a:blip r:embed="rId5"/>
          <a:stretch>
            <a:fillRect/>
          </a:stretch>
        </p:blipFill>
        <p:spPr>
          <a:xfrm>
            <a:off x="676656" y="4014216"/>
            <a:ext cx="310896" cy="310896"/>
          </a:xfrm>
          <a:prstGeom prst="rect">
            <a:avLst/>
          </a:prstGeom>
        </p:spPr>
      </p:pic>
      <p:sp>
        <p:nvSpPr>
          <p:cNvPr id="12" name="Text 7"/>
          <p:cNvSpPr txBox="1"/>
          <p:nvPr/>
        </p:nvSpPr>
        <p:spPr>
          <a:xfrm>
            <a:off x="1298448" y="3904488"/>
            <a:ext cx="2743200" cy="868680"/>
          </a:xfrm>
          <a:prstGeom prst="rect">
            <a:avLst/>
          </a:prstGeom>
          <a:noFill/>
          <a:ln/>
        </p:spPr>
        <p:txBody>
          <a:bodyPr wrap="square" lIns="0" tIns="0" rIns="0" bIns="0" rtlCol="0" anchor="t"/>
          <a:lstStyle/>
          <a:p>
            <a:pPr marL="0" indent="0">
              <a:buNone/>
            </a:pPr>
            <a:r>
              <a:rPr lang="en-US" sz="1700" b="1" dirty="0">
                <a:solidFill>
                  <a:schemeClr val="tx2"/>
                </a:solidFill>
              </a:rPr>
              <a:t>Career switchers</a:t>
            </a:r>
            <a:endParaRPr lang="en-US" sz="1700" dirty="0"/>
          </a:p>
          <a:p>
            <a:pPr marL="0" indent="0">
              <a:spcBef>
                <a:spcPts val="200"/>
              </a:spcBef>
              <a:buNone/>
            </a:pPr>
            <a:r>
              <a:rPr lang="en-US" sz="1400" dirty="0">
                <a:solidFill>
                  <a:schemeClr val="accent5"/>
                </a:solidFill>
              </a:rPr>
              <a:t>Moving to a new track, e.g. Data Analyst to Data Engineer</a:t>
            </a:r>
            <a:endParaRPr lang="en-US" sz="1700" dirty="0"/>
          </a:p>
        </p:txBody>
      </p:sp>
      <p:sp>
        <p:nvSpPr>
          <p:cNvPr id="13" name="Level note"/>
          <p:cNvSpPr/>
          <p:nvPr/>
        </p:nvSpPr>
        <p:spPr>
          <a:xfrm>
            <a:off x="548640" y="4983480"/>
            <a:ext cx="3520440" cy="960120"/>
          </a:xfrm>
          <a:prstGeom prst="rect">
            <a:avLst/>
          </a:prstGeom>
          <a:solidFill>
            <a:schemeClr val="bg2"/>
          </a:solidFill>
          <a:ln/>
        </p:spPr>
      </p:sp>
      <p:sp>
        <p:nvSpPr>
          <p:cNvPr id="14" name="Text 9"/>
          <p:cNvSpPr txBox="1"/>
          <p:nvPr/>
        </p:nvSpPr>
        <p:spPr>
          <a:xfrm>
            <a:off x="685800" y="5074920"/>
            <a:ext cx="3291840" cy="822960"/>
          </a:xfrm>
          <a:prstGeom prst="rect">
            <a:avLst/>
          </a:prstGeom>
          <a:noFill/>
          <a:ln/>
        </p:spPr>
        <p:txBody>
          <a:bodyPr wrap="square" lIns="0" tIns="0" rIns="0" bIns="0" rtlCol="0" anchor="ctr"/>
          <a:lstStyle/>
          <a:p>
            <a:pPr marL="0" indent="0">
              <a:buNone/>
            </a:pPr>
            <a:r>
              <a:rPr lang="en-US" sz="1300" dirty="0">
                <a:solidFill>
                  <a:schemeClr val="tx1"/>
                </a:solidFill>
              </a:rPr>
              <a:t>Onboarding asks for your current level (Beginner, Intermediate or Advanced), so the pacing changes for each group.</a:t>
            </a:r>
            <a:endParaRPr lang="en-US" sz="1300" dirty="0"/>
          </a:p>
        </p:txBody>
      </p:sp>
      <p:sp>
        <p:nvSpPr>
          <p:cNvPr id="15" name="Text 10"/>
          <p:cNvSpPr txBox="1"/>
          <p:nvPr/>
        </p:nvSpPr>
        <p:spPr>
          <a:xfrm>
            <a:off x="4434840" y="1234440"/>
            <a:ext cx="7205472" cy="365760"/>
          </a:xfrm>
          <a:prstGeom prst="rect">
            <a:avLst/>
          </a:prstGeom>
          <a:noFill/>
          <a:ln/>
        </p:spPr>
        <p:txBody>
          <a:bodyPr wrap="square" lIns="0" tIns="0" rIns="0" bIns="0" rtlCol="0" anchor="t"/>
          <a:lstStyle/>
          <a:p>
            <a:pPr marL="0" indent="0">
              <a:buNone/>
            </a:pPr>
            <a:r>
              <a:rPr lang="en-US" sz="2000" b="1" dirty="0">
                <a:solidFill>
                  <a:schemeClr val="tx2"/>
                </a:solidFill>
              </a:rPr>
              <a:t>Three use cases</a:t>
            </a:r>
            <a:endParaRPr lang="en-US" sz="2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434840" y="1783080"/>
          <a:ext cx="7205472" cy="2981960"/>
        </p:xfrm>
        <a:graphic>
          <a:graphicData uri="http://schemas.openxmlformats.org/drawingml/2006/table">
            <a:tbl>
              <a:tblPr/>
              <a:tblGrid>
                <a:gridCol w="20574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496312">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rPr>
                        <a:t>Situation</a:t>
                      </a:r>
                      <a:endParaRPr lang="en-US" sz="1400" dirty="0"/>
                    </a:p>
                  </a:txBody>
                  <a:tcPr marL="114300" marR="114300" marT="88900" marB="88900">
                    <a:lnL w="0" cap="flat" cmpd="sng" algn="ctr">
                      <a:noFill/>
                    </a:lnL>
                    <a:lnR w="0" cap="flat" cmpd="sng" algn="ctr">
                      <a:noFill/>
                    </a:lnR>
                    <a:lnT w="0" cap="flat" cmpd="sng" algn="ctr">
                      <a:noFill/>
                    </a:lnT>
                    <a:lnB w="0" cap="flat" cmpd="sng" algn="ctr">
                      <a:noFill/>
                    </a:lnB>
                    <a:solidFill>
                      <a:srgbClr val="19324D"/>
                    </a:solidFill>
                  </a:tcPr>
                </a:tc>
                <a:tc>
                  <a:txBody>
                    <a:bodyPr/>
                    <a:lstStyle/>
                    <a:p>
                      <a:pPr marL="0" indent="0">
                        <a:buNone/>
                      </a:pPr>
                      <a:r>
                        <a:rPr lang="en-US" sz="1400" b="1" dirty="0">
                          <a:solidFill>
                            <a:srgbClr val="FFFFFF"/>
                          </a:solidFill>
                        </a:rPr>
                        <a:t>What they do on the site</a:t>
                      </a:r>
                      <a:endParaRPr lang="en-US" sz="1400" dirty="0"/>
                    </a:p>
                  </a:txBody>
                  <a:tcPr marL="114300" marR="114300" marT="88900" marB="88900">
                    <a:lnL w="0" cap="flat" cmpd="sng" algn="ctr">
                      <a:noFill/>
                    </a:lnL>
                    <a:lnR w="0" cap="flat" cmpd="sng" algn="ctr">
                      <a:noFill/>
                    </a:lnR>
                    <a:lnT w="0" cap="flat" cmpd="sng" algn="ctr">
                      <a:noFill/>
                    </a:lnT>
                    <a:lnB w="0" cap="flat" cmpd="sng" algn="ctr">
                      <a:noFill/>
                    </a:lnB>
                    <a:solidFill>
                      <a:srgbClr val="19324D"/>
                    </a:solidFill>
                  </a:tcPr>
                </a:tc>
                <a:tc>
                  <a:txBody>
                    <a:bodyPr/>
                    <a:lstStyle/>
                    <a:p>
                      <a:pPr marL="0" indent="0">
                        <a:buNone/>
                      </a:pPr>
                      <a:r>
                        <a:rPr lang="en-US" sz="1400" b="1" dirty="0">
                          <a:solidFill>
                            <a:srgbClr val="FFFFFF"/>
                          </a:solidFill>
                        </a:rPr>
                        <a:t>What they get</a:t>
                      </a:r>
                      <a:endParaRPr lang="en-US" sz="1400" dirty="0"/>
                    </a:p>
                  </a:txBody>
                  <a:tcPr marL="114300" marR="114300" marT="88900" marB="88900">
                    <a:lnL w="0" cap="flat" cmpd="sng" algn="ctr">
                      <a:noFill/>
                    </a:lnL>
                    <a:lnR w="0" cap="flat" cmpd="sng" algn="ctr">
                      <a:noFill/>
                    </a:lnR>
                    <a:lnT w="0" cap="flat" cmpd="sng" algn="ctr">
                      <a:noFill/>
                    </a:lnT>
                    <a:lnB w="0" cap="flat" cmpd="sng" algn="ctr">
                      <a:noFill/>
                    </a:lnB>
                    <a:solidFill>
                      <a:srgbClr val="19324D"/>
                    </a:solidFill>
                  </a:tcPr>
                </a:tc>
                <a:extLst>
                  <a:ext uri="{0D108BD9-81ED-4DB2-BD59-A6C34878D82A}">
                    <a16:rowId xmlns:a16="http://schemas.microsoft.com/office/drawing/2014/main" val="10000"/>
                  </a:ext>
                </a:extLst>
              </a:tr>
              <a:tr h="0">
                <a:tc>
                  <a:txBody>
                    <a:bodyPr/>
                    <a:lstStyle/>
                    <a:p>
                      <a:pPr marL="0" indent="0">
                        <a:buNone/>
                      </a:pPr>
                      <a:r>
                        <a:rPr lang="en-US" sz="1500" b="1" dirty="0">
                          <a:solidFill>
                            <a:srgbClr val="19324D"/>
                          </a:solidFill>
                        </a:rPr>
                        <a:t>Preparing for a role before placements</a:t>
                      </a:r>
                      <a:endParaRPr lang="en-US" sz="1500" dirty="0"/>
                    </a:p>
                  </a:txBody>
                  <a:tcPr marL="114300" marR="114300" marT="88900" marB="88900">
                    <a:lnL w="0" cap="flat" cmpd="sng" algn="ctr">
                      <a:noFill/>
                    </a:lnL>
                    <a:lnR w="0" cap="flat" cmpd="sng" algn="ctr">
                      <a:noFill/>
                    </a:lnR>
                    <a:lnT w="0" cap="flat" cmpd="sng" algn="ctr">
                      <a:noFill/>
                    </a:lnT>
                    <a:lnB w="9525" cap="flat" cmpd="sng" algn="ctr">
                      <a:solidFill>
                        <a:srgbClr val="C9D6E3"/>
                      </a:solidFill>
                      <a:prstDash val="solid"/>
                      <a:round/>
                      <a:headEnd type="none" w="med" len="med"/>
                      <a:tailEnd type="none" w="med" len="med"/>
                    </a:lnB>
                    <a:solidFill>
                      <a:srgbClr val="FFFFFF"/>
                    </a:solidFill>
                  </a:tcPr>
                </a:tc>
                <a:tc>
                  <a:txBody>
                    <a:bodyPr/>
                    <a:lstStyle/>
                    <a:p>
                      <a:pPr marL="0" indent="0">
                        <a:buNone/>
                      </a:pPr>
                      <a:r>
                        <a:rPr lang="en-US" sz="1500" dirty="0">
                          <a:solidFill>
                            <a:srgbClr val="1F2A37"/>
                          </a:solidFill>
                        </a:rPr>
                        <a:t>Pick Backend Developer, add 4 skills, choose 1 hour a day for 3 months</a:t>
                      </a:r>
                      <a:endParaRPr lang="en-US" sz="1500" dirty="0"/>
                    </a:p>
                  </a:txBody>
                  <a:tcPr marL="114300" marR="114300" marT="88900" marB="88900">
                    <a:lnL w="0" cap="flat" cmpd="sng" algn="ctr">
                      <a:noFill/>
                    </a:lnL>
                    <a:lnR w="0" cap="flat" cmpd="sng" algn="ctr">
                      <a:noFill/>
                    </a:lnR>
                    <a:lnT w="0" cap="flat" cmpd="sng" algn="ctr">
                      <a:noFill/>
                    </a:lnT>
                    <a:lnB w="9525" cap="flat" cmpd="sng" algn="ctr">
                      <a:solidFill>
                        <a:srgbClr val="C9D6E3"/>
                      </a:solidFill>
                      <a:prstDash val="solid"/>
                      <a:round/>
                      <a:headEnd type="none" w="med" len="med"/>
                      <a:tailEnd type="none" w="med" len="med"/>
                    </a:lnB>
                    <a:solidFill>
                      <a:srgbClr val="FFFFFF"/>
                    </a:solidFill>
                  </a:tcPr>
                </a:tc>
                <a:tc>
                  <a:txBody>
                    <a:bodyPr/>
                    <a:lstStyle/>
                    <a:p>
                      <a:pPr marL="0" indent="0">
                        <a:buNone/>
                      </a:pPr>
                      <a:r>
                        <a:rPr lang="en-US" sz="1500" dirty="0">
                          <a:solidFill>
                            <a:srgbClr val="1F2A37"/>
                          </a:solidFill>
                        </a:rPr>
                        <a:t>Readiness </a:t>
                      </a:r>
                      <a:r>
                        <a:rPr lang="en-US" sz="1500" b="1" dirty="0">
                          <a:solidFill>
                            <a:srgbClr val="19324D"/>
                          </a:solidFill>
                        </a:rPr>
                        <a:t>32/100</a:t>
                      </a:r>
                      <a:r>
                        <a:rPr lang="en-US" sz="1500" dirty="0">
                          <a:solidFill>
                            <a:srgbClr val="1F2A37"/>
                          </a:solidFill>
                        </a:rPr>
                        <a:t>, </a:t>
                      </a:r>
                      <a:r>
                        <a:rPr lang="en-US" sz="1500" b="1" dirty="0">
                          <a:solidFill>
                            <a:srgbClr val="19324D"/>
                          </a:solidFill>
                        </a:rPr>
                        <a:t>6 critical gaps</a:t>
                      </a:r>
                      <a:r>
                        <a:rPr lang="en-US" sz="1500" dirty="0">
                          <a:solidFill>
                            <a:srgbClr val="1F2A37"/>
                          </a:solidFill>
                        </a:rPr>
                        <a:t> and a </a:t>
                      </a:r>
                      <a:r>
                        <a:rPr lang="en-US" sz="1500" b="1" dirty="0">
                          <a:solidFill>
                            <a:srgbClr val="19324D"/>
                          </a:solidFill>
                        </a:rPr>
                        <a:t>9-phase roadmap</a:t>
                      </a:r>
                      <a:r>
                        <a:rPr lang="en-US" sz="1500" dirty="0">
                          <a:solidFill>
                            <a:srgbClr val="1F2A37"/>
                          </a:solidFill>
                        </a:rPr>
                        <a:t>*</a:t>
                      </a:r>
                      <a:endParaRPr lang="en-US" sz="1500" dirty="0"/>
                    </a:p>
                  </a:txBody>
                  <a:tcPr marL="114300" marR="114300" marT="88900" marB="88900">
                    <a:lnL w="0" cap="flat" cmpd="sng" algn="ctr">
                      <a:noFill/>
                    </a:lnL>
                    <a:lnR w="0" cap="flat" cmpd="sng" algn="ctr">
                      <a:noFill/>
                    </a:lnR>
                    <a:lnT w="0" cap="flat" cmpd="sng" algn="ctr">
                      <a:noFill/>
                    </a:lnT>
                    <a:lnB w="9525" cap="flat" cmpd="sng" algn="ctr">
                      <a:solidFill>
                        <a:srgbClr val="C9D6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500" b="1" dirty="0">
                          <a:solidFill>
                            <a:srgbClr val="19324D"/>
                          </a:solidFill>
                        </a:rPr>
                        <a:t>Applying to one specific job</a:t>
                      </a:r>
                      <a:endParaRPr lang="en-US" sz="1500" dirty="0"/>
                    </a:p>
                  </a:txBody>
                  <a:tcPr marL="114300" marR="114300" marT="88900" marB="88900">
                    <a:lnL w="0" cap="flat" cmpd="sng" algn="ctr">
                      <a:noFill/>
                    </a:lnL>
                    <a:lnR w="0" cap="flat" cmpd="sng" algn="ctr">
                      <a:noFill/>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EEF5FB"/>
                    </a:solidFill>
                  </a:tcPr>
                </a:tc>
                <a:tc>
                  <a:txBody>
                    <a:bodyPr/>
                    <a:lstStyle/>
                    <a:p>
                      <a:pPr marL="0" indent="0">
                        <a:buNone/>
                      </a:pPr>
                      <a:r>
                        <a:rPr lang="en-US" sz="1500" dirty="0">
                          <a:solidFill>
                            <a:srgbClr val="1F2A37"/>
                          </a:solidFill>
                        </a:rPr>
                        <a:t>Jobs → Job match: paste the job post and click Analyze job</a:t>
                      </a:r>
                      <a:endParaRPr lang="en-US" sz="1500" dirty="0"/>
                    </a:p>
                  </a:txBody>
                  <a:tcPr marL="114300" marR="114300" marT="88900" marB="88900">
                    <a:lnL w="0" cap="flat" cmpd="sng" algn="ctr">
                      <a:noFill/>
                    </a:lnL>
                    <a:lnR w="0" cap="flat" cmpd="sng" algn="ctr">
                      <a:noFill/>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EEF5FB"/>
                    </a:solidFill>
                  </a:tcPr>
                </a:tc>
                <a:tc>
                  <a:txBody>
                    <a:bodyPr/>
                    <a:lstStyle/>
                    <a:p>
                      <a:pPr marL="0" indent="0">
                        <a:buNone/>
                      </a:pPr>
                      <a:r>
                        <a:rPr lang="en-US" sz="1500" dirty="0">
                          <a:solidFill>
                            <a:srgbClr val="1F2A37"/>
                          </a:solidFill>
                        </a:rPr>
                        <a:t>A </a:t>
                      </a:r>
                      <a:r>
                        <a:rPr lang="en-US" sz="1500" b="1" dirty="0">
                          <a:solidFill>
                            <a:srgbClr val="19324D"/>
                          </a:solidFill>
                        </a:rPr>
                        <a:t>match %</a:t>
                      </a:r>
                      <a:r>
                        <a:rPr lang="en-US" sz="1500" dirty="0">
                          <a:solidFill>
                            <a:srgbClr val="1F2A37"/>
                          </a:solidFill>
                        </a:rPr>
                        <a:t> and a gap list for that job; “Target this job” plans for it</a:t>
                      </a:r>
                      <a:endParaRPr lang="en-US" sz="1500" dirty="0"/>
                    </a:p>
                  </a:txBody>
                  <a:tcPr marL="114300" marR="114300" marT="88900" marB="88900">
                    <a:lnL w="0" cap="flat" cmpd="sng" algn="ctr">
                      <a:noFill/>
                    </a:lnL>
                    <a:lnR w="0" cap="flat" cmpd="sng" algn="ctr">
                      <a:noFill/>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EEF5FB"/>
                    </a:solidFill>
                  </a:tcPr>
                </a:tc>
                <a:extLst>
                  <a:ext uri="{0D108BD9-81ED-4DB2-BD59-A6C34878D82A}">
                    <a16:rowId xmlns:a16="http://schemas.microsoft.com/office/drawing/2014/main" val="10002"/>
                  </a:ext>
                </a:extLst>
              </a:tr>
              <a:tr h="0">
                <a:tc>
                  <a:txBody>
                    <a:bodyPr/>
                    <a:lstStyle/>
                    <a:p>
                      <a:pPr marL="0" indent="0">
                        <a:buNone/>
                      </a:pPr>
                      <a:r>
                        <a:rPr lang="en-US" sz="1500" b="1" dirty="0">
                          <a:solidFill>
                            <a:srgbClr val="19324D"/>
                          </a:solidFill>
                        </a:rPr>
                        <a:t>Choosing between roles or companies</a:t>
                      </a:r>
                      <a:endParaRPr lang="en-US" sz="1500" dirty="0"/>
                    </a:p>
                  </a:txBody>
                  <a:tcPr marL="114300" marR="114300" marT="88900" marB="88900">
                    <a:lnL w="0" cap="flat" cmpd="sng" algn="ctr">
                      <a:noFill/>
                    </a:lnL>
                    <a:lnR w="0" cap="flat" cmpd="sng" algn="ctr">
                      <a:noFill/>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marL="0" indent="0">
                        <a:buNone/>
                      </a:pPr>
                      <a:r>
                        <a:rPr lang="en-US" sz="1500" dirty="0">
                          <a:solidFill>
                            <a:srgbClr val="1F2A37"/>
                          </a:solidFill>
                        </a:rPr>
                        <a:t>Jobs → Career simulator</a:t>
                      </a:r>
                      <a:endParaRPr lang="en-US" sz="1500" dirty="0"/>
                    </a:p>
                  </a:txBody>
                  <a:tcPr marL="114300" marR="114300" marT="88900" marB="88900">
                    <a:lnL w="0" cap="flat" cmpd="sng" algn="ctr">
                      <a:noFill/>
                    </a:lnL>
                    <a:lnR w="0" cap="flat" cmpd="sng" algn="ctr">
                      <a:noFill/>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marL="0" indent="0">
                        <a:buNone/>
                      </a:pPr>
                      <a:r>
                        <a:rPr lang="en-US" sz="1500" dirty="0">
                          <a:solidFill>
                            <a:srgbClr val="1F2A37"/>
                          </a:solidFill>
                        </a:rPr>
                        <a:t>Match and </a:t>
                      </a:r>
                      <a:r>
                        <a:rPr lang="en-US" sz="1500" b="1" dirty="0">
                          <a:solidFill>
                            <a:srgbClr val="19324D"/>
                          </a:solidFill>
                        </a:rPr>
                        <a:t>preparation time</a:t>
                      </a:r>
                      <a:r>
                        <a:rPr lang="en-US" sz="1500" dirty="0">
                          <a:solidFill>
                            <a:srgbClr val="1F2A37"/>
                          </a:solidFill>
                        </a:rPr>
                        <a:t> for each role–company combination</a:t>
                      </a:r>
                      <a:endParaRPr lang="en-US" sz="1500" dirty="0"/>
                    </a:p>
                  </a:txBody>
                  <a:tcPr marL="114300" marR="114300" marT="88900" marB="88900">
                    <a:lnL w="0" cap="flat" cmpd="sng" algn="ctr">
                      <a:noFill/>
                    </a:lnL>
                    <a:lnR w="0" cap="flat" cmpd="sng" algn="ctr">
                      <a:noFill/>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7" name="Text 11"/>
          <p:cNvSpPr txBox="1"/>
          <p:nvPr/>
        </p:nvSpPr>
        <p:spPr>
          <a:xfrm>
            <a:off x="4434840" y="5897880"/>
            <a:ext cx="7205472" cy="274320"/>
          </a:xfrm>
          <a:prstGeom prst="rect">
            <a:avLst/>
          </a:prstGeom>
          <a:noFill/>
          <a:ln/>
        </p:spPr>
        <p:txBody>
          <a:bodyPr wrap="square" lIns="0" tIns="0" rIns="0" bIns="0" rtlCol="0" anchor="t"/>
          <a:lstStyle/>
          <a:p>
            <a:pPr marL="0" indent="0">
              <a:buNone/>
            </a:pPr>
            <a:r>
              <a:rPr lang="en-US" sz="1200" dirty="0">
                <a:solidFill>
                  <a:srgbClr val="8C9AA8"/>
                </a:solidFill>
              </a:rPr>
              <a:t>* From our own test run on the live site, October 2026.</a:t>
            </a:r>
            <a:endParaRPr lang="en-US" sz="12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C9AA8"/>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Key features on the live website</a:t>
            </a:r>
            <a:endParaRPr lang="en-US" sz="3000" dirty="0"/>
          </a:p>
        </p:txBody>
      </p:sp>
      <p:sp>
        <p:nvSpPr>
          <p:cNvPr id="3" name="Text 1"/>
          <p:cNvSpPr txBox="1"/>
          <p:nvPr/>
        </p:nvSpPr>
        <p:spPr>
          <a:xfrm>
            <a:off x="548640" y="1188720"/>
            <a:ext cx="6400800" cy="365760"/>
          </a:xfrm>
          <a:prstGeom prst="rect">
            <a:avLst/>
          </a:prstGeom>
          <a:noFill/>
          <a:ln/>
        </p:spPr>
        <p:txBody>
          <a:bodyPr wrap="square" lIns="0" tIns="0" rIns="0" bIns="0" rtlCol="0" anchor="t"/>
          <a:lstStyle/>
          <a:p>
            <a:pPr marL="0" indent="0">
              <a:buNone/>
            </a:pPr>
            <a:r>
              <a:rPr lang="en-US" sz="1800" b="1" dirty="0">
                <a:solidFill>
                  <a:schemeClr val="accent4"/>
                </a:solidFill>
              </a:rPr>
              <a:t>Skill gap analysis</a:t>
            </a:r>
            <a:r>
              <a:rPr lang="en-US" sz="1800" dirty="0">
                <a:solidFill>
                  <a:schemeClr val="accent5"/>
                </a:solidFill>
              </a:rPr>
              <a:t>  the core screen, shown after onboarding</a:t>
            </a:r>
            <a:endParaRPr lang="en-US" sz="1800" dirty="0"/>
          </a:p>
        </p:txBody>
      </p:sp>
      <p:pic>
        <p:nvPicPr>
          <p:cNvPr id="4" name="Skill Gap page screenshot" descr="Skill Gap page screenshot"/>
          <p:cNvPicPr>
            <a:picLocks noChangeAspect="1"/>
          </p:cNvPicPr>
          <p:nvPr/>
        </p:nvPicPr>
        <p:blipFill>
          <a:blip r:embed="rId3"/>
          <a:stretch>
            <a:fillRect/>
          </a:stretch>
        </p:blipFill>
        <p:spPr>
          <a:xfrm>
            <a:off x="548640" y="1600200"/>
            <a:ext cx="6355080" cy="3688934"/>
          </a:xfrm>
          <a:prstGeom prst="rect">
            <a:avLst/>
          </a:prstGeom>
        </p:spPr>
      </p:pic>
      <p:sp>
        <p:nvSpPr>
          <p:cNvPr id="5" name="Skill Gap page screenshot frame"/>
          <p:cNvSpPr/>
          <p:nvPr/>
        </p:nvSpPr>
        <p:spPr>
          <a:xfrm>
            <a:off x="548640" y="1600200"/>
            <a:ext cx="6355080" cy="3688934"/>
          </a:xfrm>
          <a:prstGeom prst="rect">
            <a:avLst/>
          </a:prstGeom>
          <a:ln w="9525">
            <a:solidFill>
              <a:srgbClr val="C9D6E3"/>
            </a:solidFill>
            <a:prstDash val="solid"/>
          </a:ln>
        </p:spPr>
      </p:sp>
      <p:sp>
        <p:nvSpPr>
          <p:cNvPr id="6" name="Badge 1"/>
          <p:cNvSpPr/>
          <p:nvPr/>
        </p:nvSpPr>
        <p:spPr>
          <a:xfrm>
            <a:off x="1629782" y="3027826"/>
            <a:ext cx="329184" cy="329184"/>
          </a:xfrm>
          <a:prstGeom prst="ellipse">
            <a:avLst/>
          </a:prstGeom>
          <a:solidFill>
            <a:srgbClr val="F2B45B"/>
          </a:solidFill>
          <a:ln w="19050">
            <a:solidFill>
              <a:srgbClr val="FFFFFF"/>
            </a:solidFill>
          </a:ln>
        </p:spPr>
        <p:txBody>
          <a:bodyPr wrap="square" lIns="0" tIns="0" rIns="0" bIns="0" rtlCol="0" anchor="ctr"/>
          <a:lstStyle/>
          <a:p>
            <a:pPr marL="0" indent="0" algn="ctr">
              <a:buNone/>
            </a:pPr>
            <a:r>
              <a:rPr lang="en-US" sz="1400" b="1" dirty="0">
                <a:solidFill>
                  <a:srgbClr val="19324D"/>
                </a:solidFill>
              </a:rPr>
              <a:t>1</a:t>
            </a:r>
            <a:endParaRPr lang="en-US" sz="1400" dirty="0"/>
          </a:p>
        </p:txBody>
      </p:sp>
      <p:sp>
        <p:nvSpPr>
          <p:cNvPr id="7" name="Badge 2"/>
          <p:cNvSpPr/>
          <p:nvPr/>
        </p:nvSpPr>
        <p:spPr>
          <a:xfrm>
            <a:off x="4980851" y="2676170"/>
            <a:ext cx="329184" cy="329184"/>
          </a:xfrm>
          <a:prstGeom prst="ellipse">
            <a:avLst/>
          </a:prstGeom>
          <a:solidFill>
            <a:srgbClr val="F2B45B"/>
          </a:solidFill>
          <a:ln w="19050">
            <a:solidFill>
              <a:srgbClr val="FFFFFF"/>
            </a:solidFill>
          </a:ln>
        </p:spPr>
        <p:txBody>
          <a:bodyPr wrap="square" lIns="0" tIns="0" rIns="0" bIns="0" rtlCol="0" anchor="ctr"/>
          <a:lstStyle/>
          <a:p>
            <a:pPr marL="0" indent="0" algn="ctr">
              <a:buNone/>
            </a:pPr>
            <a:r>
              <a:rPr lang="en-US" sz="1400" b="1" dirty="0">
                <a:solidFill>
                  <a:srgbClr val="19324D"/>
                </a:solidFill>
              </a:rPr>
              <a:t>2</a:t>
            </a:r>
            <a:endParaRPr lang="en-US" sz="1400" dirty="0"/>
          </a:p>
        </p:txBody>
      </p:sp>
      <p:sp>
        <p:nvSpPr>
          <p:cNvPr id="8" name="Badge 3"/>
          <p:cNvSpPr/>
          <p:nvPr/>
        </p:nvSpPr>
        <p:spPr>
          <a:xfrm>
            <a:off x="6139245" y="1981134"/>
            <a:ext cx="329184" cy="329184"/>
          </a:xfrm>
          <a:prstGeom prst="ellipse">
            <a:avLst/>
          </a:prstGeom>
          <a:solidFill>
            <a:srgbClr val="F2B45B"/>
          </a:solidFill>
          <a:ln w="19050">
            <a:solidFill>
              <a:srgbClr val="FFFFFF"/>
            </a:solidFill>
          </a:ln>
        </p:spPr>
        <p:txBody>
          <a:bodyPr wrap="square" lIns="0" tIns="0" rIns="0" bIns="0" rtlCol="0" anchor="ctr"/>
          <a:lstStyle/>
          <a:p>
            <a:pPr marL="0" indent="0" algn="ctr">
              <a:buNone/>
            </a:pPr>
            <a:r>
              <a:rPr lang="en-US" sz="1400" b="1" dirty="0">
                <a:solidFill>
                  <a:srgbClr val="19324D"/>
                </a:solidFill>
              </a:rPr>
              <a:t>3</a:t>
            </a:r>
            <a:endParaRPr lang="en-US" sz="1400" dirty="0"/>
          </a:p>
        </p:txBody>
      </p:sp>
      <p:sp>
        <p:nvSpPr>
          <p:cNvPr id="9" name="Badge 1"/>
          <p:cNvSpPr/>
          <p:nvPr/>
        </p:nvSpPr>
        <p:spPr>
          <a:xfrm>
            <a:off x="548640" y="5426294"/>
            <a:ext cx="274320" cy="274320"/>
          </a:xfrm>
          <a:prstGeom prst="ellipse">
            <a:avLst/>
          </a:prstGeom>
          <a:solidFill>
            <a:srgbClr val="F2B45B"/>
          </a:solidFill>
          <a:ln/>
        </p:spPr>
        <p:txBody>
          <a:bodyPr wrap="square" lIns="0" tIns="0" rIns="0" bIns="0" rtlCol="0" anchor="ctr"/>
          <a:lstStyle/>
          <a:p>
            <a:pPr marL="0" indent="0" algn="ctr">
              <a:buNone/>
            </a:pPr>
            <a:r>
              <a:rPr lang="en-US" sz="1200" b="1" dirty="0">
                <a:solidFill>
                  <a:srgbClr val="19324D"/>
                </a:solidFill>
              </a:rPr>
              <a:t>1</a:t>
            </a:r>
            <a:endParaRPr lang="en-US" sz="1200" dirty="0"/>
          </a:p>
        </p:txBody>
      </p:sp>
      <p:sp>
        <p:nvSpPr>
          <p:cNvPr id="10" name="Text 7"/>
          <p:cNvSpPr txBox="1"/>
          <p:nvPr/>
        </p:nvSpPr>
        <p:spPr>
          <a:xfrm>
            <a:off x="914400" y="5408006"/>
            <a:ext cx="1691640" cy="731520"/>
          </a:xfrm>
          <a:prstGeom prst="rect">
            <a:avLst/>
          </a:prstGeom>
          <a:noFill/>
          <a:ln/>
        </p:spPr>
        <p:txBody>
          <a:bodyPr wrap="square" lIns="0" tIns="0" rIns="0" bIns="0" rtlCol="0" anchor="t"/>
          <a:lstStyle/>
          <a:p>
            <a:pPr marL="0" indent="0">
              <a:buNone/>
            </a:pPr>
            <a:r>
              <a:rPr lang="en-US" sz="1250" dirty="0">
                <a:solidFill>
                  <a:schemeClr val="tx1"/>
                </a:solidFill>
              </a:rPr>
              <a:t>Readiness out of 100, with a band such as “Laying foundations”</a:t>
            </a:r>
            <a:endParaRPr lang="en-US" sz="1250" dirty="0"/>
          </a:p>
        </p:txBody>
      </p:sp>
      <p:sp>
        <p:nvSpPr>
          <p:cNvPr id="11" name="Badge 2"/>
          <p:cNvSpPr/>
          <p:nvPr/>
        </p:nvSpPr>
        <p:spPr>
          <a:xfrm>
            <a:off x="2697480" y="5426294"/>
            <a:ext cx="274320" cy="274320"/>
          </a:xfrm>
          <a:prstGeom prst="ellipse">
            <a:avLst/>
          </a:prstGeom>
          <a:solidFill>
            <a:srgbClr val="F2B45B"/>
          </a:solidFill>
          <a:ln/>
        </p:spPr>
        <p:txBody>
          <a:bodyPr wrap="square" lIns="0" tIns="0" rIns="0" bIns="0" rtlCol="0" anchor="ctr"/>
          <a:lstStyle/>
          <a:p>
            <a:pPr marL="0" indent="0" algn="ctr">
              <a:buNone/>
            </a:pPr>
            <a:r>
              <a:rPr lang="en-US" sz="1200" b="1" dirty="0">
                <a:solidFill>
                  <a:srgbClr val="19324D"/>
                </a:solidFill>
              </a:rPr>
              <a:t>2</a:t>
            </a:r>
            <a:endParaRPr lang="en-US" sz="1200" dirty="0"/>
          </a:p>
        </p:txBody>
      </p:sp>
      <p:sp>
        <p:nvSpPr>
          <p:cNvPr id="12" name="Text 9"/>
          <p:cNvSpPr txBox="1"/>
          <p:nvPr/>
        </p:nvSpPr>
        <p:spPr>
          <a:xfrm>
            <a:off x="3063240" y="5408006"/>
            <a:ext cx="1691640" cy="731520"/>
          </a:xfrm>
          <a:prstGeom prst="rect">
            <a:avLst/>
          </a:prstGeom>
          <a:noFill/>
          <a:ln/>
        </p:spPr>
        <p:txBody>
          <a:bodyPr wrap="square" lIns="0" tIns="0" rIns="0" bIns="0" rtlCol="0" anchor="t"/>
          <a:lstStyle/>
          <a:p>
            <a:pPr marL="0" indent="0">
              <a:buNone/>
            </a:pPr>
            <a:r>
              <a:rPr lang="en-US" sz="1250" dirty="0">
                <a:solidFill>
                  <a:schemeClr val="tx1"/>
                </a:solidFill>
              </a:rPr>
              <a:t>Your level (bar) against the role target (tick) for each skill</a:t>
            </a:r>
            <a:endParaRPr lang="en-US" sz="1250" dirty="0"/>
          </a:p>
        </p:txBody>
      </p:sp>
      <p:sp>
        <p:nvSpPr>
          <p:cNvPr id="13" name="Badge 3"/>
          <p:cNvSpPr/>
          <p:nvPr/>
        </p:nvSpPr>
        <p:spPr>
          <a:xfrm>
            <a:off x="4846320" y="5426294"/>
            <a:ext cx="274320" cy="274320"/>
          </a:xfrm>
          <a:prstGeom prst="ellipse">
            <a:avLst/>
          </a:prstGeom>
          <a:solidFill>
            <a:srgbClr val="F2B45B"/>
          </a:solidFill>
          <a:ln/>
        </p:spPr>
        <p:txBody>
          <a:bodyPr wrap="square" lIns="0" tIns="0" rIns="0" bIns="0" rtlCol="0" anchor="ctr"/>
          <a:lstStyle/>
          <a:p>
            <a:pPr marL="0" indent="0" algn="ctr">
              <a:buNone/>
            </a:pPr>
            <a:r>
              <a:rPr lang="en-US" sz="1200" b="1" dirty="0">
                <a:solidFill>
                  <a:srgbClr val="19324D"/>
                </a:solidFill>
              </a:rPr>
              <a:t>3</a:t>
            </a:r>
            <a:endParaRPr lang="en-US" sz="1200" dirty="0"/>
          </a:p>
        </p:txBody>
      </p:sp>
      <p:sp>
        <p:nvSpPr>
          <p:cNvPr id="14" name="Text 11"/>
          <p:cNvSpPr txBox="1"/>
          <p:nvPr/>
        </p:nvSpPr>
        <p:spPr>
          <a:xfrm>
            <a:off x="5212080" y="5408006"/>
            <a:ext cx="1691640" cy="731520"/>
          </a:xfrm>
          <a:prstGeom prst="rect">
            <a:avLst/>
          </a:prstGeom>
          <a:noFill/>
          <a:ln/>
        </p:spPr>
        <p:txBody>
          <a:bodyPr wrap="square" lIns="0" tIns="0" rIns="0" bIns="0" rtlCol="0" anchor="t"/>
          <a:lstStyle/>
          <a:p>
            <a:pPr marL="0" indent="0">
              <a:buNone/>
            </a:pPr>
            <a:r>
              <a:rPr lang="en-US" sz="1250" dirty="0">
                <a:solidFill>
                  <a:schemeClr val="tx1"/>
                </a:solidFill>
              </a:rPr>
              <a:t>One click turns the ranked gaps into a roadmap</a:t>
            </a:r>
            <a:endParaRPr lang="en-US" sz="1250" dirty="0"/>
          </a:p>
        </p:txBody>
      </p:sp>
      <p:pic>
        <p:nvPicPr>
          <p:cNvPr id="15" name="Dependency-aware roadmap screenshot" descr="Dependency-aware roadmap screenshot"/>
          <p:cNvPicPr>
            <a:picLocks noChangeAspect="1"/>
          </p:cNvPicPr>
          <p:nvPr/>
        </p:nvPicPr>
        <p:blipFill>
          <a:blip r:embed="rId4"/>
          <a:stretch>
            <a:fillRect/>
          </a:stretch>
        </p:blipFill>
        <p:spPr>
          <a:xfrm>
            <a:off x="7269480" y="1234440"/>
            <a:ext cx="1737360" cy="1086562"/>
          </a:xfrm>
          <a:prstGeom prst="rect">
            <a:avLst/>
          </a:prstGeom>
        </p:spPr>
      </p:pic>
      <p:sp>
        <p:nvSpPr>
          <p:cNvPr id="16" name="Dependency-aware roadmap screenshot frame"/>
          <p:cNvSpPr/>
          <p:nvPr/>
        </p:nvSpPr>
        <p:spPr>
          <a:xfrm>
            <a:off x="7269480" y="1234440"/>
            <a:ext cx="1737360" cy="1086562"/>
          </a:xfrm>
          <a:prstGeom prst="rect">
            <a:avLst/>
          </a:prstGeom>
          <a:ln w="9525">
            <a:solidFill>
              <a:srgbClr val="C9D6E3"/>
            </a:solidFill>
            <a:prstDash val="solid"/>
          </a:ln>
        </p:spPr>
      </p:sp>
      <p:sp>
        <p:nvSpPr>
          <p:cNvPr id="17" name="Text 13"/>
          <p:cNvSpPr txBox="1"/>
          <p:nvPr/>
        </p:nvSpPr>
        <p:spPr>
          <a:xfrm>
            <a:off x="9171432" y="1207008"/>
            <a:ext cx="2468880" cy="1371600"/>
          </a:xfrm>
          <a:prstGeom prst="rect">
            <a:avLst/>
          </a:prstGeom>
          <a:noFill/>
          <a:ln/>
        </p:spPr>
        <p:txBody>
          <a:bodyPr wrap="square" lIns="0" tIns="0" rIns="0" bIns="0" rtlCol="0" anchor="t"/>
          <a:lstStyle/>
          <a:p>
            <a:pPr marL="0" indent="0">
              <a:buNone/>
            </a:pPr>
            <a:r>
              <a:rPr lang="en-US" sz="1600" b="1" dirty="0">
                <a:solidFill>
                  <a:schemeClr val="accent4"/>
                </a:solidFill>
              </a:rPr>
              <a:t>Dependency-aware roadmap</a:t>
            </a:r>
            <a:endParaRPr lang="en-US" sz="1600" dirty="0"/>
          </a:p>
          <a:p>
            <a:pPr marL="0" indent="0">
              <a:spcBef>
                <a:spcPts val="300"/>
              </a:spcBef>
              <a:buNone/>
            </a:pPr>
            <a:r>
              <a:rPr lang="en-US" sz="1350" dirty="0">
                <a:solidFill>
                  <a:schemeClr val="tx1"/>
                </a:solidFill>
              </a:rPr>
              <a:t>Weekly phases; each skill runs Learn → Practice → Build → Assess.</a:t>
            </a:r>
            <a:endParaRPr lang="en-US" sz="1600" dirty="0"/>
          </a:p>
          <a:p>
            <a:pPr marL="0" indent="0">
              <a:spcBef>
                <a:spcPts val="400"/>
              </a:spcBef>
              <a:buNone/>
            </a:pPr>
            <a:r>
              <a:rPr lang="en-US" sz="1200" dirty="0">
                <a:solidFill>
                  <a:schemeClr val="accent5"/>
                </a:solidFill>
              </a:rPr>
              <a:t>Skill Gap → Generate My Roadmap</a:t>
            </a:r>
            <a:endParaRPr lang="en-US" sz="1600" dirty="0"/>
          </a:p>
        </p:txBody>
      </p:sp>
      <p:pic>
        <p:nvPicPr>
          <p:cNvPr id="18" name="Job description match screenshot" descr="Job description match screenshot"/>
          <p:cNvPicPr>
            <a:picLocks noChangeAspect="1"/>
          </p:cNvPicPr>
          <p:nvPr/>
        </p:nvPicPr>
        <p:blipFill>
          <a:blip r:embed="rId5"/>
          <a:stretch>
            <a:fillRect/>
          </a:stretch>
        </p:blipFill>
        <p:spPr>
          <a:xfrm>
            <a:off x="7269480" y="2807208"/>
            <a:ext cx="1737360" cy="1085452"/>
          </a:xfrm>
          <a:prstGeom prst="rect">
            <a:avLst/>
          </a:prstGeom>
        </p:spPr>
      </p:pic>
      <p:sp>
        <p:nvSpPr>
          <p:cNvPr id="19" name="Job description match screenshot frame"/>
          <p:cNvSpPr/>
          <p:nvPr/>
        </p:nvSpPr>
        <p:spPr>
          <a:xfrm>
            <a:off x="7269480" y="2807208"/>
            <a:ext cx="1737360" cy="1085452"/>
          </a:xfrm>
          <a:prstGeom prst="rect">
            <a:avLst/>
          </a:prstGeom>
          <a:ln w="9525">
            <a:solidFill>
              <a:srgbClr val="C9D6E3"/>
            </a:solidFill>
            <a:prstDash val="solid"/>
          </a:ln>
        </p:spPr>
      </p:sp>
      <p:sp>
        <p:nvSpPr>
          <p:cNvPr id="20" name="Text 15"/>
          <p:cNvSpPr txBox="1"/>
          <p:nvPr/>
        </p:nvSpPr>
        <p:spPr>
          <a:xfrm>
            <a:off x="9171432" y="2779776"/>
            <a:ext cx="2468880" cy="1371600"/>
          </a:xfrm>
          <a:prstGeom prst="rect">
            <a:avLst/>
          </a:prstGeom>
          <a:noFill/>
          <a:ln/>
        </p:spPr>
        <p:txBody>
          <a:bodyPr wrap="square" lIns="0" tIns="0" rIns="0" bIns="0" rtlCol="0" anchor="t"/>
          <a:lstStyle/>
          <a:p>
            <a:pPr marL="0" indent="0">
              <a:buNone/>
            </a:pPr>
            <a:r>
              <a:rPr lang="en-US" sz="1600" b="1" dirty="0">
                <a:solidFill>
                  <a:schemeClr val="accent4"/>
                </a:solidFill>
              </a:rPr>
              <a:t>Job description match</a:t>
            </a:r>
            <a:endParaRPr lang="en-US" sz="1600" dirty="0"/>
          </a:p>
          <a:p>
            <a:pPr marL="0" indent="0">
              <a:spcBef>
                <a:spcPts val="300"/>
              </a:spcBef>
              <a:buNone/>
            </a:pPr>
            <a:r>
              <a:rPr lang="en-US" sz="1350" dirty="0">
                <a:solidFill>
                  <a:schemeClr val="tx1"/>
                </a:solidFill>
              </a:rPr>
              <a:t>Paste a real job post to get a match % and a gap list for that job.</a:t>
            </a:r>
            <a:endParaRPr lang="en-US" sz="1600" dirty="0"/>
          </a:p>
          <a:p>
            <a:pPr marL="0" indent="0">
              <a:spcBef>
                <a:spcPts val="400"/>
              </a:spcBef>
              <a:buNone/>
            </a:pPr>
            <a:r>
              <a:rPr lang="en-US" sz="1200" dirty="0">
                <a:solidFill>
                  <a:schemeClr val="accent5"/>
                </a:solidFill>
              </a:rPr>
              <a:t>Jobs → Job match</a:t>
            </a:r>
            <a:endParaRPr lang="en-US" sz="1600" dirty="0"/>
          </a:p>
        </p:txBody>
      </p:sp>
      <p:pic>
        <p:nvPicPr>
          <p:cNvPr id="21" name="Skill assessments screenshot" descr="Skill assessments screenshot"/>
          <p:cNvPicPr>
            <a:picLocks noChangeAspect="1"/>
          </p:cNvPicPr>
          <p:nvPr/>
        </p:nvPicPr>
        <p:blipFill>
          <a:blip r:embed="rId6"/>
          <a:stretch>
            <a:fillRect/>
          </a:stretch>
        </p:blipFill>
        <p:spPr>
          <a:xfrm>
            <a:off x="7269480" y="4379976"/>
            <a:ext cx="1737360" cy="1085527"/>
          </a:xfrm>
          <a:prstGeom prst="rect">
            <a:avLst/>
          </a:prstGeom>
        </p:spPr>
      </p:pic>
      <p:sp>
        <p:nvSpPr>
          <p:cNvPr id="22" name="Skill assessments screenshot frame"/>
          <p:cNvSpPr/>
          <p:nvPr/>
        </p:nvSpPr>
        <p:spPr>
          <a:xfrm>
            <a:off x="7269480" y="4379976"/>
            <a:ext cx="1737360" cy="1085527"/>
          </a:xfrm>
          <a:prstGeom prst="rect">
            <a:avLst/>
          </a:prstGeom>
          <a:ln w="9525">
            <a:solidFill>
              <a:srgbClr val="C9D6E3"/>
            </a:solidFill>
            <a:prstDash val="solid"/>
          </a:ln>
        </p:spPr>
      </p:sp>
      <p:sp>
        <p:nvSpPr>
          <p:cNvPr id="23" name="Text 17"/>
          <p:cNvSpPr txBox="1"/>
          <p:nvPr/>
        </p:nvSpPr>
        <p:spPr>
          <a:xfrm>
            <a:off x="9171432" y="4352544"/>
            <a:ext cx="2468880" cy="1371600"/>
          </a:xfrm>
          <a:prstGeom prst="rect">
            <a:avLst/>
          </a:prstGeom>
          <a:noFill/>
          <a:ln/>
        </p:spPr>
        <p:txBody>
          <a:bodyPr wrap="square" lIns="0" tIns="0" rIns="0" bIns="0" rtlCol="0" anchor="t"/>
          <a:lstStyle/>
          <a:p>
            <a:pPr marL="0" indent="0">
              <a:buNone/>
            </a:pPr>
            <a:r>
              <a:rPr lang="en-US" sz="1600" b="1" dirty="0">
                <a:solidFill>
                  <a:schemeClr val="accent4"/>
                </a:solidFill>
              </a:rPr>
              <a:t>Skill assessments</a:t>
            </a:r>
            <a:endParaRPr lang="en-US" sz="1600" dirty="0"/>
          </a:p>
          <a:p>
            <a:pPr marL="0" indent="0">
              <a:spcBef>
                <a:spcPts val="300"/>
              </a:spcBef>
              <a:buNone/>
            </a:pPr>
            <a:r>
              <a:rPr lang="en-US" sz="1350" b="1" dirty="0">
                <a:solidFill>
                  <a:schemeClr val="tx2"/>
                </a:solidFill>
              </a:rPr>
              <a:t>26</a:t>
            </a:r>
            <a:r>
              <a:rPr lang="en-US" sz="1350" dirty="0">
                <a:solidFill>
                  <a:schemeClr val="tx1"/>
                </a:solidFill>
              </a:rPr>
              <a:t> auto-graded tests of </a:t>
            </a:r>
            <a:r>
              <a:rPr lang="en-US" sz="1350" b="1" dirty="0">
                <a:solidFill>
                  <a:schemeClr val="tx2"/>
                </a:solidFill>
              </a:rPr>
              <a:t>8</a:t>
            </a:r>
            <a:r>
              <a:rPr lang="en-US" sz="1350" dirty="0">
                <a:solidFill>
                  <a:schemeClr val="tx1"/>
                </a:solidFill>
              </a:rPr>
              <a:t> questions; the score updates your level.</a:t>
            </a:r>
            <a:endParaRPr lang="en-US" sz="1600" dirty="0"/>
          </a:p>
          <a:p>
            <a:pPr marL="0" indent="0">
              <a:spcBef>
                <a:spcPts val="400"/>
              </a:spcBef>
              <a:buNone/>
            </a:pPr>
            <a:r>
              <a:rPr lang="en-US" sz="1200" dirty="0">
                <a:solidFill>
                  <a:schemeClr val="accent5"/>
                </a:solidFill>
              </a:rPr>
              <a:t>Assessments page</a:t>
            </a:r>
            <a:endParaRPr lang="en-US" sz="1600" dirty="0"/>
          </a:p>
        </p:txBody>
      </p:sp>
      <p:sp>
        <p:nvSpPr>
          <p:cNvPr id="24" name="Text 18"/>
          <p:cNvSpPr txBox="1"/>
          <p:nvPr/>
        </p:nvSpPr>
        <p:spPr>
          <a:xfrm>
            <a:off x="7269480" y="5943600"/>
            <a:ext cx="4370832" cy="320040"/>
          </a:xfrm>
          <a:prstGeom prst="rect">
            <a:avLst/>
          </a:prstGeom>
          <a:noFill/>
          <a:ln/>
        </p:spPr>
        <p:txBody>
          <a:bodyPr wrap="square" lIns="0" tIns="0" rIns="0" bIns="0" rtlCol="0" anchor="t"/>
          <a:lstStyle/>
          <a:p>
            <a:pPr marL="0" indent="0">
              <a:buNone/>
            </a:pPr>
            <a:r>
              <a:rPr lang="en-US" sz="1250" dirty="0">
                <a:solidFill>
                  <a:schemeClr val="accent5"/>
                </a:solidFill>
              </a:rPr>
              <a:t>Also live: resume analyzer, GitHub analyzer, interview prep and a career simulator.</a:t>
            </a:r>
            <a:endParaRPr lang="en-US" sz="125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C9AA8"/>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How the website works</a:t>
            </a:r>
            <a:endParaRPr lang="en-US" sz="3000" dirty="0"/>
          </a:p>
        </p:txBody>
      </p:sp>
      <p:sp>
        <p:nvSpPr>
          <p:cNvPr id="3" name="Text 1"/>
          <p:cNvSpPr txBox="1"/>
          <p:nvPr/>
        </p:nvSpPr>
        <p:spPr>
          <a:xfrm>
            <a:off x="548640" y="1170432"/>
            <a:ext cx="11091672" cy="384048"/>
          </a:xfrm>
          <a:prstGeom prst="rect">
            <a:avLst/>
          </a:prstGeom>
          <a:noFill/>
          <a:ln/>
        </p:spPr>
        <p:txBody>
          <a:bodyPr wrap="square" lIns="0" tIns="0" rIns="0" bIns="0" rtlCol="0" anchor="t"/>
          <a:lstStyle/>
          <a:p>
            <a:pPr marL="0" indent="0">
              <a:buNone/>
            </a:pPr>
            <a:r>
              <a:rPr lang="en-US" sz="1700" dirty="0">
                <a:solidFill>
                  <a:schemeClr val="accent5"/>
                </a:solidFill>
              </a:rPr>
              <a:t>The real flow on the live site. There is no sign-up: your data is saved in your browser.</a:t>
            </a:r>
            <a:endParaRPr lang="en-US" sz="1700" dirty="0"/>
          </a:p>
        </p:txBody>
      </p:sp>
      <p:sp>
        <p:nvSpPr>
          <p:cNvPr id="4" name="Shape 2"/>
          <p:cNvSpPr/>
          <p:nvPr/>
        </p:nvSpPr>
        <p:spPr>
          <a:xfrm>
            <a:off x="1783080" y="1938528"/>
            <a:ext cx="8621878" cy="0"/>
          </a:xfrm>
          <a:prstGeom prst="line">
            <a:avLst/>
          </a:prstGeom>
          <a:noFill/>
          <a:ln w="25400">
            <a:solidFill>
              <a:srgbClr val="C9D6E3"/>
            </a:solidFill>
            <a:prstDash val="solid"/>
          </a:ln>
        </p:spPr>
      </p:sp>
      <p:sp>
        <p:nvSpPr>
          <p:cNvPr id="5" name="Badge 1"/>
          <p:cNvSpPr/>
          <p:nvPr/>
        </p:nvSpPr>
        <p:spPr>
          <a:xfrm>
            <a:off x="1554480" y="1709928"/>
            <a:ext cx="457200" cy="457200"/>
          </a:xfrm>
          <a:prstGeom prst="ellipse">
            <a:avLst/>
          </a:prstGeom>
          <a:solidFill>
            <a:srgbClr val="19324D"/>
          </a:solidFill>
          <a:ln/>
        </p:spPr>
        <p:txBody>
          <a:bodyPr wrap="square" lIns="0" tIns="0" rIns="0" bIns="0" rtlCol="0" anchor="ctr"/>
          <a:lstStyle/>
          <a:p>
            <a:pPr marL="0" indent="0" algn="ctr">
              <a:buNone/>
            </a:pPr>
            <a:r>
              <a:rPr lang="en-US" sz="1600" b="1" dirty="0">
                <a:solidFill>
                  <a:srgbClr val="FFFFFF"/>
                </a:solidFill>
              </a:rPr>
              <a:t>1</a:t>
            </a:r>
            <a:endParaRPr lang="en-US" sz="1600" dirty="0"/>
          </a:p>
        </p:txBody>
      </p:sp>
      <p:pic>
        <p:nvPicPr>
          <p:cNvPr id="6" name="Pick a target role screenshot" descr="Pick a target role screenshot"/>
          <p:cNvPicPr>
            <a:picLocks noChangeAspect="1"/>
          </p:cNvPicPr>
          <p:nvPr/>
        </p:nvPicPr>
        <p:blipFill>
          <a:blip r:embed="rId3"/>
          <a:stretch>
            <a:fillRect/>
          </a:stretch>
        </p:blipFill>
        <p:spPr>
          <a:xfrm>
            <a:off x="548640" y="2395728"/>
            <a:ext cx="2468880" cy="1645920"/>
          </a:xfrm>
          <a:prstGeom prst="rect">
            <a:avLst/>
          </a:prstGeom>
        </p:spPr>
      </p:pic>
      <p:sp>
        <p:nvSpPr>
          <p:cNvPr id="7" name="Pick a target role screenshot frame"/>
          <p:cNvSpPr/>
          <p:nvPr/>
        </p:nvSpPr>
        <p:spPr>
          <a:xfrm>
            <a:off x="548640" y="2395728"/>
            <a:ext cx="2468880" cy="1645920"/>
          </a:xfrm>
          <a:prstGeom prst="rect">
            <a:avLst/>
          </a:prstGeom>
          <a:ln w="9525">
            <a:solidFill>
              <a:srgbClr val="C9D6E3"/>
            </a:solidFill>
            <a:prstDash val="solid"/>
          </a:ln>
        </p:spPr>
      </p:sp>
      <p:sp>
        <p:nvSpPr>
          <p:cNvPr id="8" name="Text 5"/>
          <p:cNvSpPr txBox="1"/>
          <p:nvPr/>
        </p:nvSpPr>
        <p:spPr>
          <a:xfrm>
            <a:off x="548640" y="4151376"/>
            <a:ext cx="2468880" cy="1097280"/>
          </a:xfrm>
          <a:prstGeom prst="rect">
            <a:avLst/>
          </a:prstGeom>
          <a:noFill/>
          <a:ln/>
        </p:spPr>
        <p:txBody>
          <a:bodyPr wrap="square" lIns="0" tIns="0" rIns="0" bIns="0" rtlCol="0" anchor="t"/>
          <a:lstStyle/>
          <a:p>
            <a:pPr marL="0" indent="0">
              <a:buNone/>
            </a:pPr>
            <a:r>
              <a:rPr lang="en-US" sz="1700" b="1" dirty="0">
                <a:solidFill>
                  <a:schemeClr val="tx2"/>
                </a:solidFill>
              </a:rPr>
              <a:t>Pick a target role</a:t>
            </a:r>
            <a:endParaRPr lang="en-US" sz="1700" dirty="0"/>
          </a:p>
          <a:p>
            <a:pPr marL="0" indent="0">
              <a:spcBef>
                <a:spcPts val="400"/>
              </a:spcBef>
              <a:buNone/>
            </a:pPr>
            <a:r>
              <a:rPr lang="en-US" sz="1350" dirty="0">
                <a:solidFill>
                  <a:schemeClr val="accent5"/>
                </a:solidFill>
              </a:rPr>
              <a:t>Onboarding step 1: one of 13 roles or a custom role; company optional.</a:t>
            </a:r>
            <a:endParaRPr lang="en-US" sz="1700" dirty="0"/>
          </a:p>
        </p:txBody>
      </p:sp>
      <p:sp>
        <p:nvSpPr>
          <p:cNvPr id="9" name="Badge 2"/>
          <p:cNvSpPr/>
          <p:nvPr/>
        </p:nvSpPr>
        <p:spPr>
          <a:xfrm>
            <a:off x="4428439" y="1709928"/>
            <a:ext cx="457200" cy="457200"/>
          </a:xfrm>
          <a:prstGeom prst="ellipse">
            <a:avLst/>
          </a:prstGeom>
          <a:solidFill>
            <a:srgbClr val="24A699"/>
          </a:solidFill>
          <a:ln/>
        </p:spPr>
        <p:txBody>
          <a:bodyPr wrap="square" lIns="0" tIns="0" rIns="0" bIns="0" rtlCol="0" anchor="ctr"/>
          <a:lstStyle/>
          <a:p>
            <a:pPr marL="0" indent="0" algn="ctr">
              <a:buNone/>
            </a:pPr>
            <a:r>
              <a:rPr lang="en-US" sz="1600" b="1" dirty="0">
                <a:solidFill>
                  <a:srgbClr val="FFFFFF"/>
                </a:solidFill>
              </a:rPr>
              <a:t>2</a:t>
            </a:r>
            <a:endParaRPr lang="en-US" sz="1600" dirty="0"/>
          </a:p>
        </p:txBody>
      </p:sp>
      <p:pic>
        <p:nvPicPr>
          <p:cNvPr id="10" name="Add and rate skills screenshot" descr="Add and rate skills screenshot"/>
          <p:cNvPicPr>
            <a:picLocks noChangeAspect="1"/>
          </p:cNvPicPr>
          <p:nvPr/>
        </p:nvPicPr>
        <p:blipFill>
          <a:blip r:embed="rId4"/>
          <a:stretch>
            <a:fillRect/>
          </a:stretch>
        </p:blipFill>
        <p:spPr>
          <a:xfrm>
            <a:off x="3422599" y="2395728"/>
            <a:ext cx="2468880" cy="1645920"/>
          </a:xfrm>
          <a:prstGeom prst="rect">
            <a:avLst/>
          </a:prstGeom>
        </p:spPr>
      </p:pic>
      <p:sp>
        <p:nvSpPr>
          <p:cNvPr id="11" name="Add and rate skills screenshot frame"/>
          <p:cNvSpPr/>
          <p:nvPr/>
        </p:nvSpPr>
        <p:spPr>
          <a:xfrm>
            <a:off x="3422599" y="2395728"/>
            <a:ext cx="2468880" cy="1645920"/>
          </a:xfrm>
          <a:prstGeom prst="rect">
            <a:avLst/>
          </a:prstGeom>
          <a:ln w="9525">
            <a:solidFill>
              <a:srgbClr val="C9D6E3"/>
            </a:solidFill>
            <a:prstDash val="solid"/>
          </a:ln>
        </p:spPr>
      </p:sp>
      <p:sp>
        <p:nvSpPr>
          <p:cNvPr id="12" name="Text 8"/>
          <p:cNvSpPr txBox="1"/>
          <p:nvPr/>
        </p:nvSpPr>
        <p:spPr>
          <a:xfrm>
            <a:off x="3422599" y="4151376"/>
            <a:ext cx="2468880" cy="1097280"/>
          </a:xfrm>
          <a:prstGeom prst="rect">
            <a:avLst/>
          </a:prstGeom>
          <a:noFill/>
          <a:ln/>
        </p:spPr>
        <p:txBody>
          <a:bodyPr wrap="square" lIns="0" tIns="0" rIns="0" bIns="0" rtlCol="0" anchor="t"/>
          <a:lstStyle/>
          <a:p>
            <a:pPr marL="0" indent="0">
              <a:buNone/>
            </a:pPr>
            <a:r>
              <a:rPr lang="en-US" sz="1700" b="1" dirty="0">
                <a:solidFill>
                  <a:schemeClr val="accent4"/>
                </a:solidFill>
              </a:rPr>
              <a:t>Add and rate skills</a:t>
            </a:r>
            <a:endParaRPr lang="en-US" sz="1700" dirty="0"/>
          </a:p>
          <a:p>
            <a:pPr marL="0" indent="0">
              <a:spcBef>
                <a:spcPts val="400"/>
              </a:spcBef>
              <a:buNone/>
            </a:pPr>
            <a:r>
              <a:rPr lang="en-US" sz="1350" dirty="0">
                <a:solidFill>
                  <a:schemeClr val="accent5"/>
                </a:solidFill>
              </a:rPr>
              <a:t>Step 3: rate each skill Beginner, Intermediate or Advanced, or import a resume.</a:t>
            </a:r>
            <a:endParaRPr lang="en-US" sz="1700" dirty="0"/>
          </a:p>
        </p:txBody>
      </p:sp>
      <p:sp>
        <p:nvSpPr>
          <p:cNvPr id="13" name="Badge 3"/>
          <p:cNvSpPr/>
          <p:nvPr/>
        </p:nvSpPr>
        <p:spPr>
          <a:xfrm>
            <a:off x="7302398" y="1709928"/>
            <a:ext cx="457200" cy="457200"/>
          </a:xfrm>
          <a:prstGeom prst="ellipse">
            <a:avLst/>
          </a:prstGeom>
          <a:solidFill>
            <a:srgbClr val="19324D"/>
          </a:solidFill>
          <a:ln/>
        </p:spPr>
        <p:txBody>
          <a:bodyPr wrap="square" lIns="0" tIns="0" rIns="0" bIns="0" rtlCol="0" anchor="ctr"/>
          <a:lstStyle/>
          <a:p>
            <a:pPr marL="0" indent="0" algn="ctr">
              <a:buNone/>
            </a:pPr>
            <a:r>
              <a:rPr lang="en-US" sz="1600" b="1" dirty="0">
                <a:solidFill>
                  <a:srgbClr val="FFFFFF"/>
                </a:solidFill>
              </a:rPr>
              <a:t>3</a:t>
            </a:r>
            <a:endParaRPr lang="en-US" sz="1600" dirty="0"/>
          </a:p>
        </p:txBody>
      </p:sp>
      <p:pic>
        <p:nvPicPr>
          <p:cNvPr id="14" name="Set your study time screenshot" descr="Set your study time screenshot"/>
          <p:cNvPicPr>
            <a:picLocks noChangeAspect="1"/>
          </p:cNvPicPr>
          <p:nvPr/>
        </p:nvPicPr>
        <p:blipFill>
          <a:blip r:embed="rId5"/>
          <a:stretch>
            <a:fillRect/>
          </a:stretch>
        </p:blipFill>
        <p:spPr>
          <a:xfrm>
            <a:off x="6296558" y="2395728"/>
            <a:ext cx="2468880" cy="1645299"/>
          </a:xfrm>
          <a:prstGeom prst="rect">
            <a:avLst/>
          </a:prstGeom>
        </p:spPr>
      </p:pic>
      <p:sp>
        <p:nvSpPr>
          <p:cNvPr id="15" name="Set your study time screenshot frame"/>
          <p:cNvSpPr/>
          <p:nvPr/>
        </p:nvSpPr>
        <p:spPr>
          <a:xfrm>
            <a:off x="6296558" y="2395728"/>
            <a:ext cx="2468880" cy="1645299"/>
          </a:xfrm>
          <a:prstGeom prst="rect">
            <a:avLst/>
          </a:prstGeom>
          <a:ln w="9525">
            <a:solidFill>
              <a:srgbClr val="C9D6E3"/>
            </a:solidFill>
            <a:prstDash val="solid"/>
          </a:ln>
        </p:spPr>
      </p:sp>
      <p:sp>
        <p:nvSpPr>
          <p:cNvPr id="16" name="Text 11"/>
          <p:cNvSpPr txBox="1"/>
          <p:nvPr/>
        </p:nvSpPr>
        <p:spPr>
          <a:xfrm>
            <a:off x="6296558" y="4151376"/>
            <a:ext cx="2468880" cy="1097280"/>
          </a:xfrm>
          <a:prstGeom prst="rect">
            <a:avLst/>
          </a:prstGeom>
          <a:noFill/>
          <a:ln/>
        </p:spPr>
        <p:txBody>
          <a:bodyPr wrap="square" lIns="0" tIns="0" rIns="0" bIns="0" rtlCol="0" anchor="t"/>
          <a:lstStyle/>
          <a:p>
            <a:pPr marL="0" indent="0">
              <a:buNone/>
            </a:pPr>
            <a:r>
              <a:rPr lang="en-US" sz="1700" b="1" dirty="0">
                <a:solidFill>
                  <a:schemeClr val="tx2"/>
                </a:solidFill>
              </a:rPr>
              <a:t>Set your study time</a:t>
            </a:r>
            <a:endParaRPr lang="en-US" sz="1700" dirty="0"/>
          </a:p>
          <a:p>
            <a:pPr marL="0" indent="0">
              <a:spcBef>
                <a:spcPts val="400"/>
              </a:spcBef>
              <a:buNone/>
            </a:pPr>
            <a:r>
              <a:rPr lang="en-US" sz="1350" dirty="0">
                <a:solidFill>
                  <a:schemeClr val="accent5"/>
                </a:solidFill>
              </a:rPr>
              <a:t>Step 5: hours per day and a timeline, then Analyze My Skill Gap.</a:t>
            </a:r>
            <a:endParaRPr lang="en-US" sz="1700" dirty="0"/>
          </a:p>
        </p:txBody>
      </p:sp>
      <p:sp>
        <p:nvSpPr>
          <p:cNvPr id="17" name="Badge 4"/>
          <p:cNvSpPr/>
          <p:nvPr/>
        </p:nvSpPr>
        <p:spPr>
          <a:xfrm>
            <a:off x="10176358" y="1709928"/>
            <a:ext cx="457200" cy="457200"/>
          </a:xfrm>
          <a:prstGeom prst="ellipse">
            <a:avLst/>
          </a:prstGeom>
          <a:solidFill>
            <a:srgbClr val="24A699"/>
          </a:solidFill>
          <a:ln/>
        </p:spPr>
        <p:txBody>
          <a:bodyPr wrap="square" lIns="0" tIns="0" rIns="0" bIns="0" rtlCol="0" anchor="ctr"/>
          <a:lstStyle/>
          <a:p>
            <a:pPr marL="0" indent="0" algn="ctr">
              <a:buNone/>
            </a:pPr>
            <a:r>
              <a:rPr lang="en-US" sz="1600" b="1" dirty="0">
                <a:solidFill>
                  <a:srgbClr val="FFFFFF"/>
                </a:solidFill>
              </a:rPr>
              <a:t>4</a:t>
            </a:r>
            <a:endParaRPr lang="en-US" sz="1600" dirty="0"/>
          </a:p>
        </p:txBody>
      </p:sp>
      <p:pic>
        <p:nvPicPr>
          <p:cNvPr id="18" name="Review the gaps screenshot" descr="Review the gaps screenshot"/>
          <p:cNvPicPr>
            <a:picLocks noChangeAspect="1"/>
          </p:cNvPicPr>
          <p:nvPr/>
        </p:nvPicPr>
        <p:blipFill>
          <a:blip r:embed="rId6"/>
          <a:stretch>
            <a:fillRect/>
          </a:stretch>
        </p:blipFill>
        <p:spPr>
          <a:xfrm>
            <a:off x="9170518" y="2395728"/>
            <a:ext cx="2468880" cy="1645920"/>
          </a:xfrm>
          <a:prstGeom prst="rect">
            <a:avLst/>
          </a:prstGeom>
        </p:spPr>
      </p:pic>
      <p:sp>
        <p:nvSpPr>
          <p:cNvPr id="19" name="Review the gaps screenshot frame"/>
          <p:cNvSpPr/>
          <p:nvPr/>
        </p:nvSpPr>
        <p:spPr>
          <a:xfrm>
            <a:off x="9170518" y="2395728"/>
            <a:ext cx="2468880" cy="1645920"/>
          </a:xfrm>
          <a:prstGeom prst="rect">
            <a:avLst/>
          </a:prstGeom>
          <a:ln w="9525">
            <a:solidFill>
              <a:srgbClr val="C9D6E3"/>
            </a:solidFill>
            <a:prstDash val="solid"/>
          </a:ln>
        </p:spPr>
      </p:sp>
      <p:sp>
        <p:nvSpPr>
          <p:cNvPr id="20" name="Text 14"/>
          <p:cNvSpPr txBox="1"/>
          <p:nvPr/>
        </p:nvSpPr>
        <p:spPr>
          <a:xfrm>
            <a:off x="9170518" y="4151376"/>
            <a:ext cx="2468880" cy="1097280"/>
          </a:xfrm>
          <a:prstGeom prst="rect">
            <a:avLst/>
          </a:prstGeom>
          <a:noFill/>
          <a:ln/>
        </p:spPr>
        <p:txBody>
          <a:bodyPr wrap="square" lIns="0" tIns="0" rIns="0" bIns="0" rtlCol="0" anchor="t"/>
          <a:lstStyle/>
          <a:p>
            <a:pPr marL="0" indent="0">
              <a:buNone/>
            </a:pPr>
            <a:r>
              <a:rPr lang="en-US" sz="1700" b="1" dirty="0">
                <a:solidFill>
                  <a:schemeClr val="accent4"/>
                </a:solidFill>
              </a:rPr>
              <a:t>Review the gaps</a:t>
            </a:r>
            <a:endParaRPr lang="en-US" sz="1700" dirty="0"/>
          </a:p>
          <a:p>
            <a:pPr marL="0" indent="0">
              <a:spcBef>
                <a:spcPts val="400"/>
              </a:spcBef>
              <a:buNone/>
            </a:pPr>
            <a:r>
              <a:rPr lang="en-US" sz="1350" dirty="0">
                <a:solidFill>
                  <a:schemeClr val="accent5"/>
                </a:solidFill>
              </a:rPr>
              <a:t>Readiness score and ranked gaps. Next: Generate My Roadmap.</a:t>
            </a:r>
            <a:endParaRPr lang="en-US" sz="1700" dirty="0"/>
          </a:p>
        </p:txBody>
      </p:sp>
      <p:sp>
        <p:nvSpPr>
          <p:cNvPr id="21" name="Step 5 band"/>
          <p:cNvSpPr/>
          <p:nvPr/>
        </p:nvSpPr>
        <p:spPr>
          <a:xfrm>
            <a:off x="548640" y="5349240"/>
            <a:ext cx="11091672" cy="868680"/>
          </a:xfrm>
          <a:prstGeom prst="rect">
            <a:avLst/>
          </a:prstGeom>
          <a:solidFill>
            <a:schemeClr val="bg2"/>
          </a:solidFill>
          <a:ln/>
        </p:spPr>
      </p:sp>
      <p:sp>
        <p:nvSpPr>
          <p:cNvPr id="22" name="Badge 5"/>
          <p:cNvSpPr/>
          <p:nvPr/>
        </p:nvSpPr>
        <p:spPr>
          <a:xfrm>
            <a:off x="749808" y="5550408"/>
            <a:ext cx="457200" cy="457200"/>
          </a:xfrm>
          <a:prstGeom prst="ellipse">
            <a:avLst/>
          </a:prstGeom>
          <a:solidFill>
            <a:srgbClr val="19324D"/>
          </a:solidFill>
          <a:ln/>
        </p:spPr>
        <p:txBody>
          <a:bodyPr wrap="square" lIns="0" tIns="0" rIns="0" bIns="0" rtlCol="0" anchor="ctr"/>
          <a:lstStyle/>
          <a:p>
            <a:pPr marL="0" indent="0" algn="ctr">
              <a:buNone/>
            </a:pPr>
            <a:r>
              <a:rPr lang="en-US" sz="1600" b="1" dirty="0">
                <a:solidFill>
                  <a:srgbClr val="FFFFFF"/>
                </a:solidFill>
              </a:rPr>
              <a:t>5</a:t>
            </a:r>
            <a:endParaRPr lang="en-US" sz="1600" dirty="0"/>
          </a:p>
        </p:txBody>
      </p:sp>
      <p:sp>
        <p:nvSpPr>
          <p:cNvPr id="23" name="Text 17"/>
          <p:cNvSpPr txBox="1"/>
          <p:nvPr/>
        </p:nvSpPr>
        <p:spPr>
          <a:xfrm>
            <a:off x="1417320" y="5394960"/>
            <a:ext cx="10058400" cy="777240"/>
          </a:xfrm>
          <a:prstGeom prst="rect">
            <a:avLst/>
          </a:prstGeom>
          <a:noFill/>
          <a:ln/>
        </p:spPr>
        <p:txBody>
          <a:bodyPr wrap="square" lIns="0" tIns="0" rIns="0" bIns="0" rtlCol="0" anchor="ctr"/>
          <a:lstStyle/>
          <a:p>
            <a:pPr marL="0" indent="0">
              <a:buNone/>
            </a:pPr>
            <a:r>
              <a:rPr lang="en-US" sz="1700" b="1" dirty="0">
                <a:solidFill>
                  <a:schemeClr val="tx2"/>
                </a:solidFill>
              </a:rPr>
              <a:t>Follow the plan. </a:t>
            </a:r>
            <a:r>
              <a:rPr lang="en-US" sz="1600" dirty="0">
                <a:solidFill>
                  <a:schemeClr val="tx1"/>
                </a:solidFill>
              </a:rPr>
              <a:t>The Roadmap page holds every phase; the Dashboard shows this week’s tasks, sized to your weekly hours.</a:t>
            </a:r>
            <a:endParaRPr lang="en-US" sz="1700" dirty="0"/>
          </a:p>
          <a:p>
            <a:pPr marL="0" indent="0">
              <a:spcBef>
                <a:spcPts val="300"/>
              </a:spcBef>
              <a:buNone/>
            </a:pPr>
            <a:r>
              <a:rPr lang="en-US" sz="1300" dirty="0">
                <a:solidFill>
                  <a:schemeClr val="accent5"/>
                </a:solidFill>
              </a:rPr>
              <a:t>Not shown: step 2 asks your current level; step 4 reads an optional public GitHub profile.</a:t>
            </a:r>
            <a:endParaRPr lang="en-US" sz="17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C9AA8"/>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How the gap and the roadmap are calculated</a:t>
            </a:r>
            <a:endParaRPr lang="en-US" sz="3000" dirty="0"/>
          </a:p>
        </p:txBody>
      </p:sp>
      <p:sp>
        <p:nvSpPr>
          <p:cNvPr id="3" name="Text 1"/>
          <p:cNvSpPr txBox="1"/>
          <p:nvPr/>
        </p:nvSpPr>
        <p:spPr>
          <a:xfrm>
            <a:off x="548640" y="1188720"/>
            <a:ext cx="5394960" cy="384048"/>
          </a:xfrm>
          <a:prstGeom prst="rect">
            <a:avLst/>
          </a:prstGeom>
          <a:noFill/>
          <a:ln/>
        </p:spPr>
        <p:txBody>
          <a:bodyPr wrap="square" lIns="0" tIns="0" rIns="0" bIns="0" rtlCol="0" anchor="t"/>
          <a:lstStyle/>
          <a:p>
            <a:pPr marL="0" indent="0">
              <a:buNone/>
            </a:pPr>
            <a:r>
              <a:rPr lang="en-US" sz="1900" b="1" dirty="0">
                <a:solidFill>
                  <a:schemeClr val="accent1"/>
                </a:solidFill>
              </a:rPr>
              <a:t>1  </a:t>
            </a:r>
            <a:r>
              <a:rPr lang="en-US" sz="1900" b="1" dirty="0">
                <a:solidFill>
                  <a:schemeClr val="tx2"/>
                </a:solidFill>
              </a:rPr>
              <a:t>Measuring the gap</a:t>
            </a:r>
            <a:endParaRPr lang="en-US" sz="1900" dirty="0"/>
          </a:p>
        </p:txBody>
      </p:sp>
      <p:sp>
        <p:nvSpPr>
          <p:cNvPr id="4" name="Text 2"/>
          <p:cNvSpPr txBox="1"/>
          <p:nvPr/>
        </p:nvSpPr>
        <p:spPr>
          <a:xfrm>
            <a:off x="548640" y="1627632"/>
            <a:ext cx="5486400" cy="96012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chemeClr val="tx1"/>
                </a:solidFill>
              </a:rPr>
              <a:t>Self-rating → level 0–100: Beginner 30 · Intermediate 60 · Advanced 85</a:t>
            </a:r>
            <a:endParaRPr lang="en-US" sz="1400" dirty="0"/>
          </a:p>
          <a:p>
            <a:pPr marL="203200" indent="-203200">
              <a:spcAft>
                <a:spcPts val="300"/>
              </a:spcAft>
              <a:buSzPct val="100000"/>
              <a:buChar char="•"/>
            </a:pPr>
            <a:r>
              <a:rPr lang="en-US" sz="1400" dirty="0">
                <a:solidFill>
                  <a:schemeClr val="tx1"/>
                </a:solidFill>
              </a:rPr>
              <a:t>Each role sets a target and a weight: Critical 4 · High 3 · Medium 2 · Low 1</a:t>
            </a:r>
            <a:endParaRPr lang="en-US" sz="1400" dirty="0"/>
          </a:p>
          <a:p>
            <a:pPr marL="203200" indent="-203200">
              <a:spcAft>
                <a:spcPts val="300"/>
              </a:spcAft>
              <a:buSzPct val="100000"/>
              <a:buChar char="•"/>
            </a:pPr>
            <a:r>
              <a:rPr lang="en-US" sz="1400" dirty="0">
                <a:solidFill>
                  <a:schemeClr val="tx1"/>
                </a:solidFill>
              </a:rPr>
              <a:t>Priority (Critical, Important, Optional) comes from weight and gap size</a:t>
            </a:r>
            <a:endParaRPr lang="en-US" sz="1400" dirty="0"/>
          </a:p>
        </p:txBody>
      </p:sp>
      <p:sp>
        <p:nvSpPr>
          <p:cNvPr id="5" name="Text 3"/>
          <p:cNvSpPr txBox="1"/>
          <p:nvPr/>
        </p:nvSpPr>
        <p:spPr>
          <a:xfrm>
            <a:off x="548640" y="2670048"/>
            <a:ext cx="5486400" cy="256032"/>
          </a:xfrm>
          <a:prstGeom prst="rect">
            <a:avLst/>
          </a:prstGeom>
          <a:noFill/>
          <a:ln/>
        </p:spPr>
        <p:txBody>
          <a:bodyPr wrap="square" lIns="0" tIns="0" rIns="0" bIns="0" rtlCol="0" anchor="t"/>
          <a:lstStyle/>
          <a:p>
            <a:pPr marL="0" indent="0">
              <a:buNone/>
            </a:pPr>
            <a:r>
              <a:rPr lang="en-US" sz="1200" dirty="0">
                <a:solidFill>
                  <a:schemeClr val="accent5"/>
                </a:solidFill>
              </a:rPr>
              <a:t>Your level vs the role target, from our test run (Backend Developer)</a:t>
            </a:r>
            <a:endParaRPr lang="en-US" sz="1200" dirty="0"/>
          </a:p>
        </p:txBody>
      </p:sp>
      <p:graphicFrame>
        <p:nvGraphicFramePr>
          <p:cNvPr id="6" name="Level vs target chart"/>
          <p:cNvGraphicFramePr/>
          <p:nvPr/>
        </p:nvGraphicFramePr>
        <p:xfrm>
          <a:off x="457200" y="2907792"/>
          <a:ext cx="5623560" cy="2103120"/>
        </p:xfrm>
        <a:graphic>
          <a:graphicData uri="http://schemas.openxmlformats.org/drawingml/2006/chart">
            <c:chart xmlns:c="http://schemas.openxmlformats.org/drawingml/2006/chart" xmlns:r="http://schemas.openxmlformats.org/officeDocument/2006/relationships" r:id="rId3"/>
          </a:graphicData>
        </a:graphic>
      </p:graphicFrame>
      <p:sp>
        <p:nvSpPr>
          <p:cNvPr id="7" name="Readiness panel"/>
          <p:cNvSpPr/>
          <p:nvPr/>
        </p:nvSpPr>
        <p:spPr>
          <a:xfrm>
            <a:off x="548640" y="5120640"/>
            <a:ext cx="5486400" cy="1078992"/>
          </a:xfrm>
          <a:prstGeom prst="rect">
            <a:avLst/>
          </a:prstGeom>
          <a:solidFill>
            <a:schemeClr val="bg2"/>
          </a:solidFill>
          <a:ln/>
        </p:spPr>
      </p:sp>
      <p:sp>
        <p:nvSpPr>
          <p:cNvPr id="8" name="Text 5"/>
          <p:cNvSpPr txBox="1"/>
          <p:nvPr/>
        </p:nvSpPr>
        <p:spPr>
          <a:xfrm>
            <a:off x="731520" y="5175504"/>
            <a:ext cx="1737360" cy="621792"/>
          </a:xfrm>
          <a:prstGeom prst="rect">
            <a:avLst/>
          </a:prstGeom>
          <a:noFill/>
          <a:ln/>
        </p:spPr>
        <p:txBody>
          <a:bodyPr wrap="square" lIns="0" tIns="0" rIns="0" bIns="0" rtlCol="0" anchor="ctr"/>
          <a:lstStyle/>
          <a:p>
            <a:pPr marL="0" indent="0">
              <a:buNone/>
            </a:pPr>
            <a:r>
              <a:rPr lang="en-US" sz="3800" b="1" dirty="0">
                <a:solidFill>
                  <a:schemeClr val="tx2"/>
                </a:solidFill>
              </a:rPr>
              <a:t>32</a:t>
            </a:r>
            <a:r>
              <a:rPr lang="en-US" sz="1600" dirty="0">
                <a:solidFill>
                  <a:schemeClr val="accent5"/>
                </a:solidFill>
              </a:rPr>
              <a:t> / 100</a:t>
            </a:r>
            <a:endParaRPr lang="en-US" sz="3800" dirty="0"/>
          </a:p>
        </p:txBody>
      </p:sp>
      <p:sp>
        <p:nvSpPr>
          <p:cNvPr id="9" name="Text 6"/>
          <p:cNvSpPr txBox="1"/>
          <p:nvPr/>
        </p:nvSpPr>
        <p:spPr>
          <a:xfrm>
            <a:off x="731520" y="5788152"/>
            <a:ext cx="1737360" cy="320040"/>
          </a:xfrm>
          <a:prstGeom prst="rect">
            <a:avLst/>
          </a:prstGeom>
          <a:noFill/>
          <a:ln/>
        </p:spPr>
        <p:txBody>
          <a:bodyPr wrap="square" lIns="0" tIns="0" rIns="0" bIns="0" rtlCol="0" anchor="t"/>
          <a:lstStyle/>
          <a:p>
            <a:pPr marL="0" indent="0">
              <a:buNone/>
            </a:pPr>
            <a:r>
              <a:rPr lang="en-US" sz="1150" dirty="0">
                <a:solidFill>
                  <a:schemeClr val="accent5"/>
                </a:solidFill>
              </a:rPr>
              <a:t>readiness in the test run</a:t>
            </a:r>
            <a:endParaRPr lang="en-US" sz="1150" dirty="0"/>
          </a:p>
        </p:txBody>
      </p:sp>
      <p:sp>
        <p:nvSpPr>
          <p:cNvPr id="10" name="Text 7"/>
          <p:cNvSpPr txBox="1"/>
          <p:nvPr/>
        </p:nvSpPr>
        <p:spPr>
          <a:xfrm>
            <a:off x="2514600" y="5193792"/>
            <a:ext cx="3429000" cy="960120"/>
          </a:xfrm>
          <a:prstGeom prst="rect">
            <a:avLst/>
          </a:prstGeom>
          <a:noFill/>
          <a:ln/>
        </p:spPr>
        <p:txBody>
          <a:bodyPr wrap="square" lIns="0" tIns="0" rIns="0" bIns="0" rtlCol="0" anchor="ctr"/>
          <a:lstStyle/>
          <a:p>
            <a:pPr marL="0" indent="0">
              <a:buNone/>
            </a:pPr>
            <a:r>
              <a:rPr lang="en-US" sz="1400" dirty="0">
                <a:solidFill>
                  <a:schemeClr val="tx1"/>
                </a:solidFill>
              </a:rPr>
              <a:t>Readiness = the weighted share of the role’s targets you already cover.</a:t>
            </a:r>
            <a:endParaRPr lang="en-US" sz="1400" dirty="0"/>
          </a:p>
          <a:p>
            <a:pPr marL="0" indent="0">
              <a:spcBef>
                <a:spcPts val="400"/>
              </a:spcBef>
              <a:buNone/>
            </a:pPr>
            <a:r>
              <a:rPr lang="en-US" sz="1200" dirty="0">
                <a:solidFill>
                  <a:schemeClr val="accent5"/>
                </a:solidFill>
              </a:rPr>
              <a:t>Σ weight × min(1, level ÷ target) ÷ Σ weight × 100</a:t>
            </a:r>
            <a:endParaRPr lang="en-US" sz="1400" dirty="0"/>
          </a:p>
        </p:txBody>
      </p:sp>
      <p:sp>
        <p:nvSpPr>
          <p:cNvPr id="11" name="Text 8"/>
          <p:cNvSpPr txBox="1"/>
          <p:nvPr/>
        </p:nvSpPr>
        <p:spPr>
          <a:xfrm>
            <a:off x="6355080" y="1188720"/>
            <a:ext cx="5394960" cy="384048"/>
          </a:xfrm>
          <a:prstGeom prst="rect">
            <a:avLst/>
          </a:prstGeom>
          <a:noFill/>
          <a:ln/>
        </p:spPr>
        <p:txBody>
          <a:bodyPr wrap="square" lIns="0" tIns="0" rIns="0" bIns="0" rtlCol="0" anchor="t"/>
          <a:lstStyle/>
          <a:p>
            <a:pPr marL="0" indent="0">
              <a:buNone/>
            </a:pPr>
            <a:r>
              <a:rPr lang="en-US" sz="1900" b="1" dirty="0">
                <a:solidFill>
                  <a:schemeClr val="accent1"/>
                </a:solidFill>
              </a:rPr>
              <a:t>2  </a:t>
            </a:r>
            <a:r>
              <a:rPr lang="en-US" sz="1900" b="1" dirty="0">
                <a:solidFill>
                  <a:schemeClr val="tx2"/>
                </a:solidFill>
              </a:rPr>
              <a:t>Building the roadmap</a:t>
            </a:r>
            <a:endParaRPr lang="en-US" sz="1900" dirty="0"/>
          </a:p>
        </p:txBody>
      </p:sp>
      <p:sp>
        <p:nvSpPr>
          <p:cNvPr id="12" name="Step: Ranked gaps"/>
          <p:cNvSpPr/>
          <p:nvPr/>
        </p:nvSpPr>
        <p:spPr>
          <a:xfrm>
            <a:off x="6355080" y="1645920"/>
            <a:ext cx="896112" cy="658368"/>
          </a:xfrm>
          <a:prstGeom prst="rect">
            <a:avLst/>
          </a:prstGeom>
          <a:solidFill>
            <a:srgbClr val="19324D"/>
          </a:solidFill>
          <a:ln/>
        </p:spPr>
        <p:txBody>
          <a:bodyPr wrap="square" lIns="38100" tIns="38100" rIns="38100" bIns="38100" rtlCol="0" anchor="ctr"/>
          <a:lstStyle/>
          <a:p>
            <a:pPr marL="0" indent="0" algn="ctr">
              <a:buNone/>
            </a:pPr>
            <a:r>
              <a:rPr lang="en-US" sz="1150" b="1" dirty="0">
                <a:solidFill>
                  <a:srgbClr val="FFFFFF"/>
                </a:solidFill>
              </a:rPr>
              <a:t>Ranked gaps</a:t>
            </a:r>
            <a:endParaRPr lang="en-US" sz="1150" dirty="0"/>
          </a:p>
        </p:txBody>
      </p:sp>
      <p:sp>
        <p:nvSpPr>
          <p:cNvPr id="13" name="Shape 10"/>
          <p:cNvSpPr/>
          <p:nvPr/>
        </p:nvSpPr>
        <p:spPr>
          <a:xfrm>
            <a:off x="7278624" y="1975104"/>
            <a:ext cx="146304" cy="0"/>
          </a:xfrm>
          <a:prstGeom prst="line">
            <a:avLst/>
          </a:prstGeom>
          <a:noFill/>
          <a:ln w="19050">
            <a:solidFill>
              <a:srgbClr val="24A699"/>
            </a:solidFill>
            <a:prstDash val="solid"/>
            <a:tailEnd type="triangle"/>
          </a:ln>
        </p:spPr>
      </p:sp>
      <p:sp>
        <p:nvSpPr>
          <p:cNvPr id="14" name="Step: Add missing prerequisites"/>
          <p:cNvSpPr/>
          <p:nvPr/>
        </p:nvSpPr>
        <p:spPr>
          <a:xfrm>
            <a:off x="7452360" y="1645920"/>
            <a:ext cx="896112" cy="658368"/>
          </a:xfrm>
          <a:prstGeom prst="rect">
            <a:avLst/>
          </a:prstGeom>
          <a:solidFill>
            <a:srgbClr val="EEF5FB"/>
          </a:solidFill>
          <a:ln/>
        </p:spPr>
        <p:txBody>
          <a:bodyPr wrap="square" lIns="38100" tIns="38100" rIns="38100" bIns="38100" rtlCol="0" anchor="ctr"/>
          <a:lstStyle/>
          <a:p>
            <a:pPr marL="0" indent="0" algn="ctr">
              <a:buNone/>
            </a:pPr>
            <a:r>
              <a:rPr lang="en-US" sz="1150" dirty="0">
                <a:solidFill>
                  <a:srgbClr val="19324D"/>
                </a:solidFill>
              </a:rPr>
              <a:t>Add missing prerequisites</a:t>
            </a:r>
            <a:endParaRPr lang="en-US" sz="1150" dirty="0"/>
          </a:p>
        </p:txBody>
      </p:sp>
      <p:sp>
        <p:nvSpPr>
          <p:cNvPr id="15" name="Shape 12"/>
          <p:cNvSpPr/>
          <p:nvPr/>
        </p:nvSpPr>
        <p:spPr>
          <a:xfrm>
            <a:off x="8375904" y="1975104"/>
            <a:ext cx="146304" cy="0"/>
          </a:xfrm>
          <a:prstGeom prst="line">
            <a:avLst/>
          </a:prstGeom>
          <a:noFill/>
          <a:ln w="19050">
            <a:solidFill>
              <a:srgbClr val="24A699"/>
            </a:solidFill>
            <a:prstDash val="solid"/>
            <a:tailEnd type="triangle"/>
          </a:ln>
        </p:spPr>
      </p:sp>
      <p:sp>
        <p:nvSpPr>
          <p:cNvPr id="16" name="Step: Order by dependency"/>
          <p:cNvSpPr/>
          <p:nvPr/>
        </p:nvSpPr>
        <p:spPr>
          <a:xfrm>
            <a:off x="8549640" y="1645920"/>
            <a:ext cx="896112" cy="658368"/>
          </a:xfrm>
          <a:prstGeom prst="rect">
            <a:avLst/>
          </a:prstGeom>
          <a:solidFill>
            <a:srgbClr val="EEF5FB"/>
          </a:solidFill>
          <a:ln/>
        </p:spPr>
        <p:txBody>
          <a:bodyPr wrap="square" lIns="38100" tIns="38100" rIns="38100" bIns="38100" rtlCol="0" anchor="ctr"/>
          <a:lstStyle/>
          <a:p>
            <a:pPr marL="0" indent="0" algn="ctr">
              <a:buNone/>
            </a:pPr>
            <a:r>
              <a:rPr lang="en-US" sz="1150" dirty="0">
                <a:solidFill>
                  <a:srgbClr val="19324D"/>
                </a:solidFill>
              </a:rPr>
              <a:t>Order by dependency</a:t>
            </a:r>
            <a:endParaRPr lang="en-US" sz="1150" dirty="0"/>
          </a:p>
        </p:txBody>
      </p:sp>
      <p:sp>
        <p:nvSpPr>
          <p:cNvPr id="17" name="Shape 14"/>
          <p:cNvSpPr/>
          <p:nvPr/>
        </p:nvSpPr>
        <p:spPr>
          <a:xfrm>
            <a:off x="9473184" y="1975104"/>
            <a:ext cx="146304" cy="0"/>
          </a:xfrm>
          <a:prstGeom prst="line">
            <a:avLst/>
          </a:prstGeom>
          <a:noFill/>
          <a:ln w="19050">
            <a:solidFill>
              <a:srgbClr val="24A699"/>
            </a:solidFill>
            <a:prstDash val="solid"/>
            <a:tailEnd type="triangle"/>
          </a:ln>
        </p:spPr>
      </p:sp>
      <p:sp>
        <p:nvSpPr>
          <p:cNvPr id="18" name="Step: Size hours to the gap"/>
          <p:cNvSpPr/>
          <p:nvPr/>
        </p:nvSpPr>
        <p:spPr>
          <a:xfrm>
            <a:off x="9646920" y="1645920"/>
            <a:ext cx="896112" cy="658368"/>
          </a:xfrm>
          <a:prstGeom prst="rect">
            <a:avLst/>
          </a:prstGeom>
          <a:solidFill>
            <a:srgbClr val="EEF5FB"/>
          </a:solidFill>
          <a:ln/>
        </p:spPr>
        <p:txBody>
          <a:bodyPr wrap="square" lIns="38100" tIns="38100" rIns="38100" bIns="38100" rtlCol="0" anchor="ctr"/>
          <a:lstStyle/>
          <a:p>
            <a:pPr marL="0" indent="0" algn="ctr">
              <a:buNone/>
            </a:pPr>
            <a:r>
              <a:rPr lang="en-US" sz="1150" dirty="0">
                <a:solidFill>
                  <a:srgbClr val="19324D"/>
                </a:solidFill>
              </a:rPr>
              <a:t>Size hours to the gap</a:t>
            </a:r>
            <a:endParaRPr lang="en-US" sz="1150" dirty="0"/>
          </a:p>
        </p:txBody>
      </p:sp>
      <p:sp>
        <p:nvSpPr>
          <p:cNvPr id="19" name="Shape 16"/>
          <p:cNvSpPr/>
          <p:nvPr/>
        </p:nvSpPr>
        <p:spPr>
          <a:xfrm>
            <a:off x="10570464" y="1975104"/>
            <a:ext cx="146304" cy="0"/>
          </a:xfrm>
          <a:prstGeom prst="line">
            <a:avLst/>
          </a:prstGeom>
          <a:noFill/>
          <a:ln w="19050">
            <a:solidFill>
              <a:srgbClr val="24A699"/>
            </a:solidFill>
            <a:prstDash val="solid"/>
            <a:tailEnd type="triangle"/>
          </a:ln>
        </p:spPr>
      </p:sp>
      <p:sp>
        <p:nvSpPr>
          <p:cNvPr id="20" name="Step: Fit to weekly time"/>
          <p:cNvSpPr/>
          <p:nvPr/>
        </p:nvSpPr>
        <p:spPr>
          <a:xfrm>
            <a:off x="10744200" y="1645920"/>
            <a:ext cx="896112" cy="658368"/>
          </a:xfrm>
          <a:prstGeom prst="rect">
            <a:avLst/>
          </a:prstGeom>
          <a:solidFill>
            <a:srgbClr val="EEF5FB"/>
          </a:solidFill>
          <a:ln/>
        </p:spPr>
        <p:txBody>
          <a:bodyPr wrap="square" lIns="38100" tIns="38100" rIns="38100" bIns="38100" rtlCol="0" anchor="ctr"/>
          <a:lstStyle/>
          <a:p>
            <a:pPr marL="0" indent="0" algn="ctr">
              <a:buNone/>
            </a:pPr>
            <a:r>
              <a:rPr lang="en-US" sz="1150" dirty="0">
                <a:solidFill>
                  <a:srgbClr val="19324D"/>
                </a:solidFill>
              </a:rPr>
              <a:t>Fit to weekly time</a:t>
            </a:r>
            <a:endParaRPr lang="en-US" sz="1150" dirty="0"/>
          </a:p>
        </p:txBody>
      </p:sp>
      <p:sp>
        <p:nvSpPr>
          <p:cNvPr id="21" name="Text 18"/>
          <p:cNvSpPr txBox="1"/>
          <p:nvPr/>
        </p:nvSpPr>
        <p:spPr>
          <a:xfrm>
            <a:off x="6355080" y="2395728"/>
            <a:ext cx="5285232" cy="274320"/>
          </a:xfrm>
          <a:prstGeom prst="rect">
            <a:avLst/>
          </a:prstGeom>
          <a:noFill/>
          <a:ln/>
        </p:spPr>
        <p:txBody>
          <a:bodyPr wrap="square" lIns="0" tIns="0" rIns="0" bIns="0" rtlCol="0" anchor="t"/>
          <a:lstStyle/>
          <a:p>
            <a:pPr marL="0" indent="0">
              <a:buNone/>
            </a:pPr>
            <a:r>
              <a:rPr lang="en-US" sz="1300" dirty="0">
                <a:solidFill>
                  <a:schemeClr val="accent5"/>
                </a:solidFill>
              </a:rPr>
              <a:t>Each skill then runs </a:t>
            </a:r>
            <a:r>
              <a:rPr lang="en-US" sz="1300" b="1" dirty="0">
                <a:solidFill>
                  <a:schemeClr val="accent4"/>
                </a:solidFill>
              </a:rPr>
              <a:t>Learn → Practice → Build → Assess</a:t>
            </a:r>
            <a:endParaRPr lang="en-US" sz="1300" dirty="0"/>
          </a:p>
        </p:txBody>
      </p:sp>
      <p:pic>
        <p:nvPicPr>
          <p:cNvPr id="22" name="Prerequisite map screenshot (live site)" descr="Prerequisite map screenshot (live site)"/>
          <p:cNvPicPr>
            <a:picLocks noChangeAspect="1"/>
          </p:cNvPicPr>
          <p:nvPr/>
        </p:nvPicPr>
        <p:blipFill>
          <a:blip r:embed="rId4"/>
          <a:stretch>
            <a:fillRect/>
          </a:stretch>
        </p:blipFill>
        <p:spPr>
          <a:xfrm>
            <a:off x="6355080" y="2761488"/>
            <a:ext cx="5285232" cy="1992468"/>
          </a:xfrm>
          <a:prstGeom prst="rect">
            <a:avLst/>
          </a:prstGeom>
        </p:spPr>
      </p:pic>
      <p:sp>
        <p:nvSpPr>
          <p:cNvPr id="23" name="Prerequisite map screenshot (live site) frame"/>
          <p:cNvSpPr/>
          <p:nvPr/>
        </p:nvSpPr>
        <p:spPr>
          <a:xfrm>
            <a:off x="6355080" y="2761488"/>
            <a:ext cx="5285232" cy="1992468"/>
          </a:xfrm>
          <a:prstGeom prst="rect">
            <a:avLst/>
          </a:prstGeom>
          <a:ln w="9525">
            <a:solidFill>
              <a:srgbClr val="C9D6E3"/>
            </a:solidFill>
            <a:prstDash val="solid"/>
          </a:ln>
        </p:spPr>
      </p:sp>
      <p:sp>
        <p:nvSpPr>
          <p:cNvPr id="24" name="Highlight 9"/>
          <p:cNvSpPr/>
          <p:nvPr/>
        </p:nvSpPr>
        <p:spPr>
          <a:xfrm>
            <a:off x="6318504" y="5158130"/>
            <a:ext cx="240563" cy="147401"/>
          </a:xfrm>
          <a:prstGeom prst="rect">
            <a:avLst/>
          </a:prstGeom>
          <a:solidFill>
            <a:srgbClr val="F2B45B"/>
          </a:solidFill>
          <a:ln/>
        </p:spPr>
      </p:sp>
      <p:sp>
        <p:nvSpPr>
          <p:cNvPr id="25" name="Text 21"/>
          <p:cNvSpPr txBox="1"/>
          <p:nvPr/>
        </p:nvSpPr>
        <p:spPr>
          <a:xfrm>
            <a:off x="6355080" y="4920386"/>
            <a:ext cx="533171" cy="439826"/>
          </a:xfrm>
          <a:prstGeom prst="rect">
            <a:avLst/>
          </a:prstGeom>
          <a:noFill/>
          <a:ln/>
        </p:spPr>
        <p:txBody>
          <a:bodyPr wrap="square" lIns="0" tIns="0" rIns="0" bIns="0" rtlCol="0" anchor="t"/>
          <a:lstStyle/>
          <a:p>
            <a:pPr marL="0" indent="0">
              <a:buNone/>
            </a:pPr>
            <a:r>
              <a:rPr lang="en-US" sz="2600" b="1" dirty="0">
                <a:solidFill>
                  <a:schemeClr val="tx2"/>
                </a:solidFill>
              </a:rPr>
              <a:t>9</a:t>
            </a:r>
            <a:endParaRPr lang="en-US" sz="2600" dirty="0"/>
          </a:p>
        </p:txBody>
      </p:sp>
      <p:sp>
        <p:nvSpPr>
          <p:cNvPr id="26" name="Text 22"/>
          <p:cNvSpPr txBox="1"/>
          <p:nvPr/>
        </p:nvSpPr>
        <p:spPr>
          <a:xfrm>
            <a:off x="6355080" y="5395874"/>
            <a:ext cx="1280160" cy="274320"/>
          </a:xfrm>
          <a:prstGeom prst="rect">
            <a:avLst/>
          </a:prstGeom>
          <a:noFill/>
          <a:ln/>
        </p:spPr>
        <p:txBody>
          <a:bodyPr wrap="square" lIns="0" tIns="0" rIns="0" bIns="0" rtlCol="0" anchor="t"/>
          <a:lstStyle/>
          <a:p>
            <a:pPr marL="0" indent="0">
              <a:buNone/>
            </a:pPr>
            <a:r>
              <a:rPr lang="en-US" sz="1300" dirty="0">
                <a:solidFill>
                  <a:schemeClr val="accent5"/>
                </a:solidFill>
              </a:rPr>
              <a:t>roadmap phases</a:t>
            </a:r>
            <a:endParaRPr lang="en-US" sz="1300" dirty="0"/>
          </a:p>
        </p:txBody>
      </p:sp>
      <p:sp>
        <p:nvSpPr>
          <p:cNvPr id="27" name="Highlight 125.5 h"/>
          <p:cNvSpPr/>
          <p:nvPr/>
        </p:nvSpPr>
        <p:spPr>
          <a:xfrm>
            <a:off x="7781544" y="5158130"/>
            <a:ext cx="1086206" cy="147401"/>
          </a:xfrm>
          <a:prstGeom prst="rect">
            <a:avLst/>
          </a:prstGeom>
          <a:solidFill>
            <a:srgbClr val="F2B45B"/>
          </a:solidFill>
          <a:ln/>
        </p:spPr>
      </p:sp>
      <p:sp>
        <p:nvSpPr>
          <p:cNvPr id="28" name="Text 24"/>
          <p:cNvSpPr txBox="1"/>
          <p:nvPr/>
        </p:nvSpPr>
        <p:spPr>
          <a:xfrm>
            <a:off x="7818120" y="4920386"/>
            <a:ext cx="1378814" cy="439826"/>
          </a:xfrm>
          <a:prstGeom prst="rect">
            <a:avLst/>
          </a:prstGeom>
          <a:noFill/>
          <a:ln/>
        </p:spPr>
        <p:txBody>
          <a:bodyPr wrap="square" lIns="0" tIns="0" rIns="0" bIns="0" rtlCol="0" anchor="t"/>
          <a:lstStyle/>
          <a:p>
            <a:pPr marL="0" indent="0">
              <a:buNone/>
            </a:pPr>
            <a:r>
              <a:rPr lang="en-US" sz="2600" b="1" dirty="0">
                <a:solidFill>
                  <a:schemeClr val="tx2"/>
                </a:solidFill>
              </a:rPr>
              <a:t>125.5 h</a:t>
            </a:r>
            <a:endParaRPr lang="en-US" sz="2600" dirty="0"/>
          </a:p>
        </p:txBody>
      </p:sp>
      <p:sp>
        <p:nvSpPr>
          <p:cNvPr id="29" name="Text 25"/>
          <p:cNvSpPr txBox="1"/>
          <p:nvPr/>
        </p:nvSpPr>
        <p:spPr>
          <a:xfrm>
            <a:off x="7818120" y="5395874"/>
            <a:ext cx="1371600" cy="274320"/>
          </a:xfrm>
          <a:prstGeom prst="rect">
            <a:avLst/>
          </a:prstGeom>
          <a:noFill/>
          <a:ln/>
        </p:spPr>
        <p:txBody>
          <a:bodyPr wrap="square" lIns="0" tIns="0" rIns="0" bIns="0" rtlCol="0" anchor="t"/>
          <a:lstStyle/>
          <a:p>
            <a:pPr marL="0" indent="0">
              <a:buNone/>
            </a:pPr>
            <a:r>
              <a:rPr lang="en-US" sz="1300" dirty="0">
                <a:solidFill>
                  <a:schemeClr val="accent5"/>
                </a:solidFill>
              </a:rPr>
              <a:t>total effort</a:t>
            </a:r>
            <a:endParaRPr lang="en-US" sz="1300" dirty="0"/>
          </a:p>
        </p:txBody>
      </p:sp>
      <p:sp>
        <p:nvSpPr>
          <p:cNvPr id="30" name="Highlight ~21"/>
          <p:cNvSpPr/>
          <p:nvPr/>
        </p:nvSpPr>
        <p:spPr>
          <a:xfrm>
            <a:off x="9427464" y="5158130"/>
            <a:ext cx="573075" cy="147401"/>
          </a:xfrm>
          <a:prstGeom prst="rect">
            <a:avLst/>
          </a:prstGeom>
          <a:solidFill>
            <a:srgbClr val="F2B45B"/>
          </a:solidFill>
          <a:ln/>
        </p:spPr>
      </p:sp>
      <p:sp>
        <p:nvSpPr>
          <p:cNvPr id="31" name="Text 27"/>
          <p:cNvSpPr txBox="1"/>
          <p:nvPr/>
        </p:nvSpPr>
        <p:spPr>
          <a:xfrm>
            <a:off x="9464040" y="4920386"/>
            <a:ext cx="865683" cy="439826"/>
          </a:xfrm>
          <a:prstGeom prst="rect">
            <a:avLst/>
          </a:prstGeom>
          <a:noFill/>
          <a:ln/>
        </p:spPr>
        <p:txBody>
          <a:bodyPr wrap="square" lIns="0" tIns="0" rIns="0" bIns="0" rtlCol="0" anchor="t"/>
          <a:lstStyle/>
          <a:p>
            <a:pPr marL="0" indent="0">
              <a:buNone/>
            </a:pPr>
            <a:r>
              <a:rPr lang="en-US" sz="2600" b="1" dirty="0">
                <a:solidFill>
                  <a:schemeClr val="tx2"/>
                </a:solidFill>
              </a:rPr>
              <a:t>~21</a:t>
            </a:r>
            <a:endParaRPr lang="en-US" sz="2600" dirty="0"/>
          </a:p>
        </p:txBody>
      </p:sp>
      <p:sp>
        <p:nvSpPr>
          <p:cNvPr id="32" name="Text 28"/>
          <p:cNvSpPr txBox="1"/>
          <p:nvPr/>
        </p:nvSpPr>
        <p:spPr>
          <a:xfrm>
            <a:off x="9464040" y="5395874"/>
            <a:ext cx="1828800" cy="274320"/>
          </a:xfrm>
          <a:prstGeom prst="rect">
            <a:avLst/>
          </a:prstGeom>
          <a:noFill/>
          <a:ln/>
        </p:spPr>
        <p:txBody>
          <a:bodyPr wrap="square" lIns="0" tIns="0" rIns="0" bIns="0" rtlCol="0" anchor="t"/>
          <a:lstStyle/>
          <a:p>
            <a:pPr marL="0" indent="0">
              <a:buNone/>
            </a:pPr>
            <a:r>
              <a:rPr lang="en-US" sz="1300" dirty="0">
                <a:solidFill>
                  <a:schemeClr val="accent5"/>
                </a:solidFill>
              </a:rPr>
              <a:t>weeks at 6 h/week</a:t>
            </a:r>
            <a:endParaRPr lang="en-US" sz="1300" dirty="0"/>
          </a:p>
        </p:txBody>
      </p:sp>
      <p:sp>
        <p:nvSpPr>
          <p:cNvPr id="33" name="Text 29"/>
          <p:cNvSpPr txBox="1"/>
          <p:nvPr/>
        </p:nvSpPr>
        <p:spPr>
          <a:xfrm>
            <a:off x="6355080" y="5760720"/>
            <a:ext cx="5285232" cy="411480"/>
          </a:xfrm>
          <a:prstGeom prst="rect">
            <a:avLst/>
          </a:prstGeom>
          <a:noFill/>
          <a:ln/>
        </p:spPr>
        <p:txBody>
          <a:bodyPr wrap="square" lIns="0" tIns="0" rIns="0" bIns="0" rtlCol="0" anchor="t"/>
          <a:lstStyle/>
          <a:p>
            <a:pPr marL="0" indent="0">
              <a:buNone/>
            </a:pPr>
            <a:r>
              <a:rPr lang="en-US" sz="1250" dirty="0">
                <a:solidFill>
                  <a:schemeClr val="tx1"/>
                </a:solidFill>
              </a:rPr>
              <a:t>Longer than the 12-week target, so the app warned about it and deferred 6 lower-priority skills.</a:t>
            </a:r>
            <a:endParaRPr lang="en-US" sz="1250" dirty="0"/>
          </a:p>
        </p:txBody>
      </p:sp>
      <p:sp>
        <p:nvSpPr>
          <p:cNvPr id="34"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C9AA8"/>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Technology stack and architecture</a:t>
            </a:r>
            <a:endParaRPr lang="en-US" sz="3000" dirty="0"/>
          </a:p>
        </p:txBody>
      </p:sp>
      <p:sp>
        <p:nvSpPr>
          <p:cNvPr id="3" name="Vercel"/>
          <p:cNvSpPr/>
          <p:nvPr/>
        </p:nvSpPr>
        <p:spPr>
          <a:xfrm>
            <a:off x="548640" y="1600200"/>
            <a:ext cx="2240280" cy="1143000"/>
          </a:xfrm>
          <a:prstGeom prst="rect">
            <a:avLst/>
          </a:prstGeom>
          <a:solidFill>
            <a:srgbClr val="FFFFFF"/>
          </a:solidFill>
          <a:ln w="15875">
            <a:solidFill>
              <a:srgbClr val="19324D"/>
            </a:solidFill>
          </a:ln>
        </p:spPr>
        <p:txBody>
          <a:bodyPr wrap="square" lIns="101600" tIns="127000" rIns="127000" bIns="101600" rtlCol="0" anchor="t"/>
          <a:lstStyle/>
          <a:p>
            <a:pPr marL="0" indent="0">
              <a:buNone/>
            </a:pPr>
            <a:r>
              <a:rPr lang="en-US" sz="1500" b="1" dirty="0">
                <a:solidFill>
                  <a:srgbClr val="19324D"/>
                </a:solidFill>
              </a:rPr>
              <a:t>Vercel</a:t>
            </a:r>
            <a:endParaRPr lang="en-US" sz="1500" dirty="0"/>
          </a:p>
          <a:p>
            <a:pPr marL="0" indent="0">
              <a:spcBef>
                <a:spcPts val="300"/>
              </a:spcBef>
              <a:buNone/>
            </a:pPr>
            <a:r>
              <a:rPr lang="en-US" sz="1300" dirty="0">
                <a:solidFill>
                  <a:srgbClr val="4F5D6B"/>
                </a:solidFill>
              </a:rPr>
              <a:t>Hosts the built static files</a:t>
            </a:r>
            <a:endParaRPr lang="en-US" sz="1500" dirty="0"/>
          </a:p>
        </p:txBody>
      </p:sp>
      <p:sp>
        <p:nvSpPr>
          <p:cNvPr id="4" name="GitHub REST API"/>
          <p:cNvSpPr/>
          <p:nvPr/>
        </p:nvSpPr>
        <p:spPr>
          <a:xfrm>
            <a:off x="548640" y="3429000"/>
            <a:ext cx="2240280" cy="1143000"/>
          </a:xfrm>
          <a:prstGeom prst="rect">
            <a:avLst/>
          </a:prstGeom>
          <a:solidFill>
            <a:srgbClr val="FFFFFF"/>
          </a:solidFill>
          <a:ln w="15875">
            <a:solidFill>
              <a:srgbClr val="19324D"/>
            </a:solidFill>
          </a:ln>
        </p:spPr>
        <p:txBody>
          <a:bodyPr wrap="square" lIns="101600" tIns="127000" rIns="127000" bIns="101600" rtlCol="0" anchor="t"/>
          <a:lstStyle/>
          <a:p>
            <a:pPr marL="0" indent="0">
              <a:buNone/>
            </a:pPr>
            <a:r>
              <a:rPr lang="en-US" sz="1500" b="1" dirty="0">
                <a:solidFill>
                  <a:srgbClr val="19324D"/>
                </a:solidFill>
              </a:rPr>
              <a:t>GitHub REST API</a:t>
            </a:r>
            <a:endParaRPr lang="en-US" sz="1500" dirty="0"/>
          </a:p>
          <a:p>
            <a:pPr marL="0" indent="0">
              <a:spcBef>
                <a:spcPts val="300"/>
              </a:spcBef>
              <a:buNone/>
            </a:pPr>
            <a:r>
              <a:rPr lang="en-US" sz="1300" dirty="0">
                <a:solidFill>
                  <a:srgbClr val="4F5D6B"/>
                </a:solidFill>
              </a:rPr>
              <a:t>Public repositories, read by the GitHub analyzer</a:t>
            </a:r>
            <a:endParaRPr lang="en-US" sz="1500" dirty="0"/>
          </a:p>
        </p:txBody>
      </p:sp>
      <p:sp>
        <p:nvSpPr>
          <p:cNvPr id="5" name="Browser"/>
          <p:cNvSpPr/>
          <p:nvPr/>
        </p:nvSpPr>
        <p:spPr>
          <a:xfrm>
            <a:off x="3246120" y="1280160"/>
            <a:ext cx="5257800" cy="4069080"/>
          </a:xfrm>
          <a:prstGeom prst="rect">
            <a:avLst/>
          </a:prstGeom>
          <a:solidFill>
            <a:schemeClr val="bg2"/>
          </a:solidFill>
          <a:ln w="12700">
            <a:solidFill>
              <a:srgbClr val="19324D"/>
            </a:solidFill>
            <a:prstDash val="solid"/>
          </a:ln>
        </p:spPr>
      </p:sp>
      <p:sp>
        <p:nvSpPr>
          <p:cNvPr id="6" name="Text 4"/>
          <p:cNvSpPr txBox="1"/>
          <p:nvPr/>
        </p:nvSpPr>
        <p:spPr>
          <a:xfrm>
            <a:off x="3429000" y="1371600"/>
            <a:ext cx="4846320" cy="320040"/>
          </a:xfrm>
          <a:prstGeom prst="rect">
            <a:avLst/>
          </a:prstGeom>
          <a:noFill/>
          <a:ln/>
        </p:spPr>
        <p:txBody>
          <a:bodyPr wrap="square" lIns="0" tIns="0" rIns="0" bIns="0" rtlCol="0" anchor="t"/>
          <a:lstStyle/>
          <a:p>
            <a:pPr marL="0" indent="0">
              <a:buNone/>
            </a:pPr>
            <a:r>
              <a:rPr lang="en-US" sz="1500" b="1" dirty="0">
                <a:solidFill>
                  <a:schemeClr val="tx2"/>
                </a:solidFill>
              </a:rPr>
              <a:t>User’s browser</a:t>
            </a:r>
            <a:endParaRPr lang="en-US" sz="1500" dirty="0"/>
          </a:p>
        </p:txBody>
      </p:sp>
      <p:sp>
        <p:nvSpPr>
          <p:cNvPr id="7" name="React 18 UI"/>
          <p:cNvSpPr/>
          <p:nvPr/>
        </p:nvSpPr>
        <p:spPr>
          <a:xfrm>
            <a:off x="3474720" y="1783080"/>
            <a:ext cx="4800600" cy="822960"/>
          </a:xfrm>
          <a:prstGeom prst="rect">
            <a:avLst/>
          </a:prstGeom>
          <a:solidFill>
            <a:srgbClr val="19324D"/>
          </a:solidFill>
          <a:ln/>
        </p:spPr>
        <p:txBody>
          <a:bodyPr wrap="square" lIns="101600" tIns="127000" rIns="127000" bIns="101600" rtlCol="0" anchor="t"/>
          <a:lstStyle/>
          <a:p>
            <a:pPr marL="0" indent="0">
              <a:buNone/>
            </a:pPr>
            <a:r>
              <a:rPr lang="en-US" sz="1500" b="1" dirty="0">
                <a:solidFill>
                  <a:srgbClr val="FFFFFF"/>
                </a:solidFill>
              </a:rPr>
              <a:t>React 18 UI</a:t>
            </a:r>
            <a:endParaRPr lang="en-US" sz="1500" dirty="0"/>
          </a:p>
          <a:p>
            <a:pPr marL="0" indent="0">
              <a:spcBef>
                <a:spcPts val="300"/>
              </a:spcBef>
              <a:buNone/>
            </a:pPr>
            <a:r>
              <a:rPr lang="en-US" sz="1300" dirty="0">
                <a:solidFill>
                  <a:srgbClr val="EEF5FB"/>
                </a:solidFill>
              </a:rPr>
              <a:t>React Router · Tailwind CSS · built with Vite</a:t>
            </a:r>
            <a:endParaRPr lang="en-US" sz="1500" dirty="0"/>
          </a:p>
        </p:txBody>
      </p:sp>
      <p:sp>
        <p:nvSpPr>
          <p:cNvPr id="8" name="Logic (src/lib)"/>
          <p:cNvSpPr/>
          <p:nvPr/>
        </p:nvSpPr>
        <p:spPr>
          <a:xfrm>
            <a:off x="3474720" y="2788920"/>
            <a:ext cx="2331720" cy="1417320"/>
          </a:xfrm>
          <a:prstGeom prst="rect">
            <a:avLst/>
          </a:prstGeom>
          <a:solidFill>
            <a:srgbClr val="DDF2EF"/>
          </a:solidFill>
          <a:ln w="15875">
            <a:solidFill>
              <a:srgbClr val="24A699"/>
            </a:solidFill>
          </a:ln>
        </p:spPr>
        <p:txBody>
          <a:bodyPr wrap="square" lIns="101600" tIns="127000" rIns="127000" bIns="101600" rtlCol="0" anchor="t"/>
          <a:lstStyle/>
          <a:p>
            <a:pPr marL="0" indent="0">
              <a:buNone/>
            </a:pPr>
            <a:r>
              <a:rPr lang="en-US" sz="1500" b="1" dirty="0">
                <a:solidFill>
                  <a:srgbClr val="19324D"/>
                </a:solidFill>
              </a:rPr>
              <a:t>Logic (src/lib)</a:t>
            </a:r>
            <a:endParaRPr lang="en-US" sz="1500" dirty="0"/>
          </a:p>
          <a:p>
            <a:pPr marL="0" indent="0">
              <a:spcBef>
                <a:spcPts val="300"/>
              </a:spcBef>
              <a:buNone/>
            </a:pPr>
            <a:r>
              <a:rPr lang="en-US" sz="1300" dirty="0">
                <a:solidFill>
                  <a:srgbClr val="1F2A37"/>
                </a:solidFill>
              </a:rPr>
              <a:t>Gap analysis, roadmap planner, resume and job-post parsing, GitHub scoring</a:t>
            </a:r>
            <a:endParaRPr lang="en-US" sz="1500" dirty="0"/>
          </a:p>
        </p:txBody>
      </p:sp>
      <p:sp>
        <p:nvSpPr>
          <p:cNvPr id="9" name="Data (src/data)"/>
          <p:cNvSpPr/>
          <p:nvPr/>
        </p:nvSpPr>
        <p:spPr>
          <a:xfrm>
            <a:off x="5943600" y="2788920"/>
            <a:ext cx="2331720" cy="1417320"/>
          </a:xfrm>
          <a:prstGeom prst="rect">
            <a:avLst/>
          </a:prstGeom>
          <a:solidFill>
            <a:srgbClr val="DDF2EF"/>
          </a:solidFill>
          <a:ln w="15875">
            <a:solidFill>
              <a:srgbClr val="24A699"/>
            </a:solidFill>
          </a:ln>
        </p:spPr>
        <p:txBody>
          <a:bodyPr wrap="square" lIns="101600" tIns="127000" rIns="127000" bIns="101600" rtlCol="0" anchor="t"/>
          <a:lstStyle/>
          <a:p>
            <a:pPr marL="0" indent="0">
              <a:buNone/>
            </a:pPr>
            <a:r>
              <a:rPr lang="en-US" sz="1500" b="1" dirty="0">
                <a:solidFill>
                  <a:srgbClr val="19324D"/>
                </a:solidFill>
              </a:rPr>
              <a:t>Data (src/data)</a:t>
            </a:r>
            <a:endParaRPr lang="en-US" sz="1500" dirty="0"/>
          </a:p>
          <a:p>
            <a:pPr marL="0" indent="0">
              <a:spcBef>
                <a:spcPts val="300"/>
              </a:spcBef>
              <a:buNone/>
            </a:pPr>
            <a:r>
              <a:rPr lang="en-US" sz="1300" dirty="0">
                <a:solidFill>
                  <a:srgbClr val="1F2A37"/>
                </a:solidFill>
              </a:rPr>
              <a:t>93 skills with prerequisites, 13 roles, company profiles, question banks</a:t>
            </a:r>
            <a:endParaRPr lang="en-US" sz="1500" dirty="0"/>
          </a:p>
        </p:txBody>
      </p:sp>
      <p:sp>
        <p:nvSpPr>
          <p:cNvPr id="10" name="localStorage"/>
          <p:cNvSpPr/>
          <p:nvPr/>
        </p:nvSpPr>
        <p:spPr>
          <a:xfrm>
            <a:off x="3474720" y="4389120"/>
            <a:ext cx="4800600" cy="777240"/>
          </a:xfrm>
          <a:prstGeom prst="rect">
            <a:avLst/>
          </a:prstGeom>
          <a:solidFill>
            <a:srgbClr val="F2B45B"/>
          </a:solidFill>
          <a:ln/>
        </p:spPr>
        <p:txBody>
          <a:bodyPr wrap="square" lIns="101600" tIns="127000" rIns="127000" bIns="101600" rtlCol="0" anchor="t"/>
          <a:lstStyle/>
          <a:p>
            <a:pPr marL="0" indent="0">
              <a:buNone/>
            </a:pPr>
            <a:r>
              <a:rPr lang="en-US" sz="1500" b="1" dirty="0">
                <a:solidFill>
                  <a:srgbClr val="19324D"/>
                </a:solidFill>
              </a:rPr>
              <a:t>localStorage</a:t>
            </a:r>
            <a:endParaRPr lang="en-US" sz="1500" dirty="0"/>
          </a:p>
          <a:p>
            <a:pPr marL="0" indent="0">
              <a:spcBef>
                <a:spcPts val="300"/>
              </a:spcBef>
              <a:buNone/>
            </a:pPr>
            <a:r>
              <a:rPr lang="en-US" sz="1300" dirty="0">
                <a:solidFill>
                  <a:srgbClr val="19324D"/>
                </a:solidFill>
              </a:rPr>
              <a:t>Profile, analysis, roadmap and progress; no login needed</a:t>
            </a:r>
            <a:endParaRPr lang="en-US" sz="1500" dirty="0"/>
          </a:p>
        </p:txBody>
      </p:sp>
      <p:sp>
        <p:nvSpPr>
          <p:cNvPr id="11" name="Node.js API + Google Gemini"/>
          <p:cNvSpPr/>
          <p:nvPr/>
        </p:nvSpPr>
        <p:spPr>
          <a:xfrm>
            <a:off x="8961120" y="1600200"/>
            <a:ext cx="2679192" cy="1463040"/>
          </a:xfrm>
          <a:prstGeom prst="rect">
            <a:avLst/>
          </a:prstGeom>
          <a:solidFill>
            <a:srgbClr val="FFFFFF"/>
          </a:solidFill>
          <a:ln w="12700">
            <a:solidFill>
              <a:srgbClr val="8C9AA8"/>
            </a:solidFill>
            <a:prstDash val="dash"/>
          </a:ln>
        </p:spPr>
        <p:txBody>
          <a:bodyPr wrap="square" lIns="101600" tIns="127000" rIns="127000" bIns="101600" rtlCol="0" anchor="t"/>
          <a:lstStyle/>
          <a:p>
            <a:pPr marL="0" indent="0">
              <a:buNone/>
            </a:pPr>
            <a:r>
              <a:rPr lang="en-US" sz="1500" b="1" dirty="0">
                <a:solidFill>
                  <a:srgbClr val="4F5D6B"/>
                </a:solidFill>
              </a:rPr>
              <a:t>Node.js API + Google Gemini</a:t>
            </a:r>
            <a:endParaRPr lang="en-US" sz="1500" dirty="0"/>
          </a:p>
          <a:p>
            <a:pPr marL="0" indent="0">
              <a:spcBef>
                <a:spcPts val="300"/>
              </a:spcBef>
              <a:buNone/>
            </a:pPr>
            <a:r>
              <a:rPr lang="en-US" sz="1300" dirty="0">
                <a:solidFill>
                  <a:srgbClr val="4F5D6B"/>
                </a:solidFill>
              </a:rPr>
              <a:t>Optional rewording of roadmap phases. Not deployed: /api returns 404 on Vercel</a:t>
            </a:r>
            <a:endParaRPr lang="en-US" sz="1500" dirty="0"/>
          </a:p>
        </p:txBody>
      </p:sp>
      <p:sp>
        <p:nvSpPr>
          <p:cNvPr id="12" name="Firebase Auth + Firestore"/>
          <p:cNvSpPr/>
          <p:nvPr/>
        </p:nvSpPr>
        <p:spPr>
          <a:xfrm>
            <a:off x="8961120" y="3429000"/>
            <a:ext cx="2679192" cy="1463040"/>
          </a:xfrm>
          <a:prstGeom prst="rect">
            <a:avLst/>
          </a:prstGeom>
          <a:solidFill>
            <a:srgbClr val="FFFFFF"/>
          </a:solidFill>
          <a:ln w="12700">
            <a:solidFill>
              <a:srgbClr val="8C9AA8"/>
            </a:solidFill>
            <a:prstDash val="dash"/>
          </a:ln>
        </p:spPr>
        <p:txBody>
          <a:bodyPr wrap="square" lIns="101600" tIns="127000" rIns="127000" bIns="101600" rtlCol="0" anchor="t"/>
          <a:lstStyle/>
          <a:p>
            <a:pPr marL="0" indent="0">
              <a:buNone/>
            </a:pPr>
            <a:r>
              <a:rPr lang="en-US" sz="1500" b="1" dirty="0">
                <a:solidFill>
                  <a:srgbClr val="4F5D6B"/>
                </a:solidFill>
              </a:rPr>
              <a:t>Firebase Auth + Firestore</a:t>
            </a:r>
            <a:endParaRPr lang="en-US" sz="1500" dirty="0"/>
          </a:p>
          <a:p>
            <a:pPr marL="0" indent="0">
              <a:spcBef>
                <a:spcPts val="300"/>
              </a:spcBef>
              <a:buNone/>
            </a:pPr>
            <a:r>
              <a:rPr lang="en-US" sz="1300" dirty="0">
                <a:solidFill>
                  <a:srgbClr val="4F5D6B"/>
                </a:solidFill>
              </a:rPr>
              <a:t>Optional accounts and sync. Not configured on the live site</a:t>
            </a:r>
            <a:endParaRPr lang="en-US" sz="1500" dirty="0"/>
          </a:p>
        </p:txBody>
      </p:sp>
      <p:sp>
        <p:nvSpPr>
          <p:cNvPr id="13" name="Shape 11"/>
          <p:cNvSpPr/>
          <p:nvPr/>
        </p:nvSpPr>
        <p:spPr>
          <a:xfrm>
            <a:off x="2807208" y="2171700"/>
            <a:ext cx="420624" cy="0"/>
          </a:xfrm>
          <a:prstGeom prst="line">
            <a:avLst/>
          </a:prstGeom>
          <a:noFill/>
          <a:ln w="22225">
            <a:solidFill>
              <a:srgbClr val="19324D"/>
            </a:solidFill>
            <a:prstDash val="solid"/>
            <a:tailEnd type="triangle"/>
          </a:ln>
        </p:spPr>
      </p:sp>
      <p:sp>
        <p:nvSpPr>
          <p:cNvPr id="14" name="Shape 12"/>
          <p:cNvSpPr/>
          <p:nvPr/>
        </p:nvSpPr>
        <p:spPr>
          <a:xfrm>
            <a:off x="2807208" y="4000500"/>
            <a:ext cx="420624" cy="0"/>
          </a:xfrm>
          <a:prstGeom prst="line">
            <a:avLst/>
          </a:prstGeom>
          <a:noFill/>
          <a:ln w="22225">
            <a:solidFill>
              <a:srgbClr val="19324D"/>
            </a:solidFill>
            <a:prstDash val="solid"/>
            <a:headEnd type="triangle"/>
            <a:tailEnd type="triangle"/>
          </a:ln>
        </p:spPr>
      </p:sp>
      <p:sp>
        <p:nvSpPr>
          <p:cNvPr id="15" name="Shape 13"/>
          <p:cNvSpPr/>
          <p:nvPr/>
        </p:nvSpPr>
        <p:spPr>
          <a:xfrm>
            <a:off x="8522208" y="2331720"/>
            <a:ext cx="420624" cy="0"/>
          </a:xfrm>
          <a:prstGeom prst="line">
            <a:avLst/>
          </a:prstGeom>
          <a:noFill/>
          <a:ln w="15875">
            <a:solidFill>
              <a:srgbClr val="8C9AA8"/>
            </a:solidFill>
            <a:prstDash val="dash"/>
            <a:headEnd type="triangle"/>
            <a:tailEnd type="triangle"/>
          </a:ln>
        </p:spPr>
      </p:sp>
      <p:sp>
        <p:nvSpPr>
          <p:cNvPr id="16" name="Shape 14"/>
          <p:cNvSpPr/>
          <p:nvPr/>
        </p:nvSpPr>
        <p:spPr>
          <a:xfrm>
            <a:off x="8522208" y="4160520"/>
            <a:ext cx="420624" cy="0"/>
          </a:xfrm>
          <a:prstGeom prst="line">
            <a:avLst/>
          </a:prstGeom>
          <a:noFill/>
          <a:ln w="15875">
            <a:solidFill>
              <a:srgbClr val="8C9AA8"/>
            </a:solidFill>
            <a:prstDash val="dash"/>
            <a:headEnd type="triangle"/>
            <a:tailEnd type="triangle"/>
          </a:ln>
        </p:spPr>
      </p:sp>
      <p:sp>
        <p:nvSpPr>
          <p:cNvPr id="17" name="Legend Interface"/>
          <p:cNvSpPr/>
          <p:nvPr/>
        </p:nvSpPr>
        <p:spPr>
          <a:xfrm>
            <a:off x="548640" y="5522976"/>
            <a:ext cx="201168" cy="201168"/>
          </a:xfrm>
          <a:prstGeom prst="rect">
            <a:avLst/>
          </a:prstGeom>
          <a:solidFill>
            <a:srgbClr val="19324D"/>
          </a:solidFill>
          <a:ln/>
        </p:spPr>
      </p:sp>
      <p:sp>
        <p:nvSpPr>
          <p:cNvPr id="18" name="Text 16"/>
          <p:cNvSpPr txBox="1"/>
          <p:nvPr/>
        </p:nvSpPr>
        <p:spPr>
          <a:xfrm>
            <a:off x="841248" y="5486400"/>
            <a:ext cx="882396" cy="274320"/>
          </a:xfrm>
          <a:prstGeom prst="rect">
            <a:avLst/>
          </a:prstGeom>
          <a:noFill/>
          <a:ln/>
        </p:spPr>
        <p:txBody>
          <a:bodyPr wrap="square" lIns="0" tIns="0" rIns="0" bIns="0" rtlCol="0" anchor="t"/>
          <a:lstStyle/>
          <a:p>
            <a:pPr marL="0" indent="0">
              <a:buNone/>
            </a:pPr>
            <a:r>
              <a:rPr lang="en-US" sz="1250" dirty="0">
                <a:solidFill>
                  <a:schemeClr val="accent5"/>
                </a:solidFill>
              </a:rPr>
              <a:t>Interface</a:t>
            </a:r>
            <a:endParaRPr lang="en-US" sz="1250" dirty="0"/>
          </a:p>
        </p:txBody>
      </p:sp>
      <p:sp>
        <p:nvSpPr>
          <p:cNvPr id="19" name="Legend Logic and data"/>
          <p:cNvSpPr/>
          <p:nvPr/>
        </p:nvSpPr>
        <p:spPr>
          <a:xfrm>
            <a:off x="1860804" y="5522976"/>
            <a:ext cx="201168" cy="201168"/>
          </a:xfrm>
          <a:prstGeom prst="rect">
            <a:avLst/>
          </a:prstGeom>
          <a:solidFill>
            <a:srgbClr val="DDF2EF"/>
          </a:solidFill>
          <a:ln w="12700">
            <a:solidFill>
              <a:srgbClr val="24A699"/>
            </a:solidFill>
            <a:prstDash val="solid"/>
          </a:ln>
        </p:spPr>
      </p:sp>
      <p:sp>
        <p:nvSpPr>
          <p:cNvPr id="20" name="Text 18"/>
          <p:cNvSpPr txBox="1"/>
          <p:nvPr/>
        </p:nvSpPr>
        <p:spPr>
          <a:xfrm>
            <a:off x="2153412" y="5486400"/>
            <a:ext cx="1271016" cy="274320"/>
          </a:xfrm>
          <a:prstGeom prst="rect">
            <a:avLst/>
          </a:prstGeom>
          <a:noFill/>
          <a:ln/>
        </p:spPr>
        <p:txBody>
          <a:bodyPr wrap="square" lIns="0" tIns="0" rIns="0" bIns="0" rtlCol="0" anchor="t"/>
          <a:lstStyle/>
          <a:p>
            <a:pPr marL="0" indent="0">
              <a:buNone/>
            </a:pPr>
            <a:r>
              <a:rPr lang="en-US" sz="1250" dirty="0">
                <a:solidFill>
                  <a:schemeClr val="accent5"/>
                </a:solidFill>
              </a:rPr>
              <a:t>Logic and data</a:t>
            </a:r>
            <a:endParaRPr lang="en-US" sz="1250" dirty="0"/>
          </a:p>
        </p:txBody>
      </p:sp>
      <p:sp>
        <p:nvSpPr>
          <p:cNvPr id="21" name="Legend Browser storage"/>
          <p:cNvSpPr/>
          <p:nvPr/>
        </p:nvSpPr>
        <p:spPr>
          <a:xfrm>
            <a:off x="3561588" y="5522976"/>
            <a:ext cx="201168" cy="201168"/>
          </a:xfrm>
          <a:prstGeom prst="rect">
            <a:avLst/>
          </a:prstGeom>
          <a:solidFill>
            <a:srgbClr val="F2B45B"/>
          </a:solidFill>
          <a:ln/>
        </p:spPr>
      </p:sp>
      <p:sp>
        <p:nvSpPr>
          <p:cNvPr id="22" name="Text 20"/>
          <p:cNvSpPr txBox="1"/>
          <p:nvPr/>
        </p:nvSpPr>
        <p:spPr>
          <a:xfrm>
            <a:off x="3854196" y="5486400"/>
            <a:ext cx="1348740" cy="274320"/>
          </a:xfrm>
          <a:prstGeom prst="rect">
            <a:avLst/>
          </a:prstGeom>
          <a:noFill/>
          <a:ln/>
        </p:spPr>
        <p:txBody>
          <a:bodyPr wrap="square" lIns="0" tIns="0" rIns="0" bIns="0" rtlCol="0" anchor="t"/>
          <a:lstStyle/>
          <a:p>
            <a:pPr marL="0" indent="0">
              <a:buNone/>
            </a:pPr>
            <a:r>
              <a:rPr lang="en-US" sz="1250" dirty="0">
                <a:solidFill>
                  <a:schemeClr val="accent5"/>
                </a:solidFill>
              </a:rPr>
              <a:t>Browser storage</a:t>
            </a:r>
            <a:endParaRPr lang="en-US" sz="1250" dirty="0"/>
          </a:p>
        </p:txBody>
      </p:sp>
      <p:sp>
        <p:nvSpPr>
          <p:cNvPr id="23" name="Legend External service (live)"/>
          <p:cNvSpPr/>
          <p:nvPr/>
        </p:nvSpPr>
        <p:spPr>
          <a:xfrm>
            <a:off x="5340096" y="5522976"/>
            <a:ext cx="201168" cy="201168"/>
          </a:xfrm>
          <a:prstGeom prst="rect">
            <a:avLst/>
          </a:prstGeom>
          <a:solidFill>
            <a:srgbClr val="FFFFFF"/>
          </a:solidFill>
          <a:ln w="12700">
            <a:solidFill>
              <a:srgbClr val="19324D"/>
            </a:solidFill>
            <a:prstDash val="solid"/>
          </a:ln>
        </p:spPr>
      </p:sp>
      <p:sp>
        <p:nvSpPr>
          <p:cNvPr id="24" name="Text 22"/>
          <p:cNvSpPr txBox="1"/>
          <p:nvPr/>
        </p:nvSpPr>
        <p:spPr>
          <a:xfrm>
            <a:off x="5632704" y="5486400"/>
            <a:ext cx="1970532" cy="274320"/>
          </a:xfrm>
          <a:prstGeom prst="rect">
            <a:avLst/>
          </a:prstGeom>
          <a:noFill/>
          <a:ln/>
        </p:spPr>
        <p:txBody>
          <a:bodyPr wrap="square" lIns="0" tIns="0" rIns="0" bIns="0" rtlCol="0" anchor="t"/>
          <a:lstStyle/>
          <a:p>
            <a:pPr marL="0" indent="0">
              <a:buNone/>
            </a:pPr>
            <a:r>
              <a:rPr lang="en-US" sz="1250" dirty="0">
                <a:solidFill>
                  <a:schemeClr val="accent5"/>
                </a:solidFill>
              </a:rPr>
              <a:t>External service (live)</a:t>
            </a:r>
            <a:endParaRPr lang="en-US" sz="1250" dirty="0"/>
          </a:p>
        </p:txBody>
      </p:sp>
      <p:sp>
        <p:nvSpPr>
          <p:cNvPr id="25" name="Legend In the code, not enabled live"/>
          <p:cNvSpPr/>
          <p:nvPr/>
        </p:nvSpPr>
        <p:spPr>
          <a:xfrm>
            <a:off x="7740396" y="5522976"/>
            <a:ext cx="201168" cy="201168"/>
          </a:xfrm>
          <a:prstGeom prst="rect">
            <a:avLst/>
          </a:prstGeom>
          <a:solidFill>
            <a:srgbClr val="FFFFFF"/>
          </a:solidFill>
          <a:ln w="12700">
            <a:solidFill>
              <a:srgbClr val="8C9AA8"/>
            </a:solidFill>
            <a:prstDash val="dash"/>
          </a:ln>
        </p:spPr>
      </p:sp>
      <p:sp>
        <p:nvSpPr>
          <p:cNvPr id="26" name="Text 24"/>
          <p:cNvSpPr txBox="1"/>
          <p:nvPr/>
        </p:nvSpPr>
        <p:spPr>
          <a:xfrm>
            <a:off x="8033004" y="5486400"/>
            <a:ext cx="2436876" cy="274320"/>
          </a:xfrm>
          <a:prstGeom prst="rect">
            <a:avLst/>
          </a:prstGeom>
          <a:noFill/>
          <a:ln/>
        </p:spPr>
        <p:txBody>
          <a:bodyPr wrap="square" lIns="0" tIns="0" rIns="0" bIns="0" rtlCol="0" anchor="t"/>
          <a:lstStyle/>
          <a:p>
            <a:pPr marL="0" indent="0">
              <a:buNone/>
            </a:pPr>
            <a:r>
              <a:rPr lang="en-US" sz="1250" dirty="0">
                <a:solidFill>
                  <a:schemeClr val="accent5"/>
                </a:solidFill>
              </a:rPr>
              <a:t>In the code, not enabled live</a:t>
            </a:r>
            <a:endParaRPr lang="en-US" sz="1250" dirty="0"/>
          </a:p>
        </p:txBody>
      </p:sp>
      <p:sp>
        <p:nvSpPr>
          <p:cNvPr id="27" name="Text 25"/>
          <p:cNvSpPr txBox="1"/>
          <p:nvPr/>
        </p:nvSpPr>
        <p:spPr>
          <a:xfrm>
            <a:off x="548640" y="5806440"/>
            <a:ext cx="11091672" cy="502920"/>
          </a:xfrm>
          <a:prstGeom prst="rect">
            <a:avLst/>
          </a:prstGeom>
          <a:noFill/>
          <a:ln/>
        </p:spPr>
        <p:txBody>
          <a:bodyPr wrap="square" lIns="0" tIns="0" rIns="0" bIns="0" rtlCol="0" anchor="t"/>
          <a:lstStyle/>
          <a:p>
            <a:pPr marL="0" indent="0">
              <a:buNone/>
            </a:pPr>
            <a:r>
              <a:rPr lang="en-US" sz="1450" b="1" dirty="0">
                <a:solidFill>
                  <a:schemeClr val="tx2"/>
                </a:solidFill>
              </a:rPr>
              <a:t>Design choice: </a:t>
            </a:r>
            <a:r>
              <a:rPr lang="en-US" sz="1450" dirty="0">
                <a:solidFill>
                  <a:schemeClr val="tx1"/>
                </a:solidFill>
              </a:rPr>
              <a:t>the analysis and the planner are plain functions with no randomness, so they run in the browser without a server and always give the same result for the same input.</a:t>
            </a:r>
            <a:endParaRPr lang="en-US" sz="1450" dirty="0"/>
          </a:p>
        </p:txBody>
      </p:sp>
      <p:sp>
        <p:nvSpPr>
          <p:cNvPr id="28"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C9AA8"/>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rPr>
              <a:t>Impact, limitations and future scope</a:t>
            </a:r>
            <a:endParaRPr lang="en-US" sz="3000" dirty="0"/>
          </a:p>
        </p:txBody>
      </p:sp>
      <p:sp>
        <p:nvSpPr>
          <p:cNvPr id="3" name="Expected impact header"/>
          <p:cNvSpPr/>
          <p:nvPr/>
        </p:nvSpPr>
        <p:spPr>
          <a:xfrm>
            <a:off x="548640" y="1234440"/>
            <a:ext cx="3520440" cy="868680"/>
          </a:xfrm>
          <a:prstGeom prst="rect">
            <a:avLst/>
          </a:prstGeom>
          <a:solidFill>
            <a:srgbClr val="24A699"/>
          </a:solidFill>
          <a:ln/>
        </p:spPr>
      </p:sp>
      <p:pic>
        <p:nvPicPr>
          <p:cNvPr id="4" name="Image 0" descr="Expected impact icon"/>
          <p:cNvPicPr>
            <a:picLocks noChangeAspect="1"/>
          </p:cNvPicPr>
          <p:nvPr/>
        </p:nvPicPr>
        <p:blipFill>
          <a:blip r:embed="rId3"/>
          <a:stretch>
            <a:fillRect/>
          </a:stretch>
        </p:blipFill>
        <p:spPr>
          <a:xfrm>
            <a:off x="731520" y="1463040"/>
            <a:ext cx="384048" cy="384048"/>
          </a:xfrm>
          <a:prstGeom prst="rect">
            <a:avLst/>
          </a:prstGeom>
        </p:spPr>
      </p:pic>
      <p:sp>
        <p:nvSpPr>
          <p:cNvPr id="5" name="Text 2"/>
          <p:cNvSpPr txBox="1"/>
          <p:nvPr/>
        </p:nvSpPr>
        <p:spPr>
          <a:xfrm>
            <a:off x="1261872" y="1307592"/>
            <a:ext cx="2743200" cy="384048"/>
          </a:xfrm>
          <a:prstGeom prst="rect">
            <a:avLst/>
          </a:prstGeom>
          <a:noFill/>
          <a:ln/>
        </p:spPr>
        <p:txBody>
          <a:bodyPr wrap="square" lIns="0" tIns="0" rIns="0" bIns="0" rtlCol="0" anchor="t"/>
          <a:lstStyle/>
          <a:p>
            <a:pPr marL="0" indent="0">
              <a:buNone/>
            </a:pPr>
            <a:r>
              <a:rPr lang="en-US" sz="1900" b="1" dirty="0">
                <a:solidFill>
                  <a:srgbClr val="19324D"/>
                </a:solidFill>
              </a:rPr>
              <a:t>Expected impact</a:t>
            </a:r>
            <a:endParaRPr lang="en-US" sz="1900" dirty="0"/>
          </a:p>
        </p:txBody>
      </p:sp>
      <p:sp>
        <p:nvSpPr>
          <p:cNvPr id="6" name="Text 3"/>
          <p:cNvSpPr txBox="1"/>
          <p:nvPr/>
        </p:nvSpPr>
        <p:spPr>
          <a:xfrm>
            <a:off x="1261872" y="1682496"/>
            <a:ext cx="2743200" cy="320040"/>
          </a:xfrm>
          <a:prstGeom prst="rect">
            <a:avLst/>
          </a:prstGeom>
          <a:noFill/>
          <a:ln/>
        </p:spPr>
        <p:txBody>
          <a:bodyPr wrap="square" lIns="0" tIns="0" rIns="0" bIns="0" rtlCol="0" anchor="t"/>
          <a:lstStyle/>
          <a:p>
            <a:pPr marL="0" indent="0">
              <a:buNone/>
            </a:pPr>
            <a:r>
              <a:rPr lang="en-US" sz="1200" dirty="0">
                <a:solidFill>
                  <a:srgbClr val="19324D"/>
                </a:solidFill>
              </a:rPr>
              <a:t>Intended benefits, not yet measured</a:t>
            </a:r>
            <a:endParaRPr lang="en-US" sz="1200" dirty="0"/>
          </a:p>
        </p:txBody>
      </p:sp>
      <p:sp>
        <p:nvSpPr>
          <p:cNvPr id="7" name="Expected impact body"/>
          <p:cNvSpPr/>
          <p:nvPr/>
        </p:nvSpPr>
        <p:spPr>
          <a:xfrm>
            <a:off x="548640" y="2103120"/>
            <a:ext cx="3520440" cy="4069080"/>
          </a:xfrm>
          <a:prstGeom prst="rect">
            <a:avLst/>
          </a:prstGeom>
          <a:solidFill>
            <a:schemeClr val="bg2"/>
          </a:solidFill>
          <a:ln/>
        </p:spPr>
      </p:sp>
      <p:sp>
        <p:nvSpPr>
          <p:cNvPr id="8" name="Text 5"/>
          <p:cNvSpPr txBox="1"/>
          <p:nvPr/>
        </p:nvSpPr>
        <p:spPr>
          <a:xfrm>
            <a:off x="713232" y="2286000"/>
            <a:ext cx="3218688" cy="3794760"/>
          </a:xfrm>
          <a:prstGeom prst="rect">
            <a:avLst/>
          </a:prstGeom>
          <a:noFill/>
          <a:ln/>
        </p:spPr>
        <p:txBody>
          <a:bodyPr wrap="square" lIns="0" tIns="0" rIns="0" bIns="0" rtlCol="0" anchor="t"/>
          <a:lstStyle/>
          <a:p>
            <a:pPr marL="203200" indent="-203200">
              <a:spcAft>
                <a:spcPts val="1000"/>
              </a:spcAft>
              <a:buSzPct val="100000"/>
              <a:buChar char="•"/>
            </a:pPr>
            <a:r>
              <a:rPr lang="en-US" sz="1650" dirty="0">
                <a:solidFill>
                  <a:schemeClr val="tx1"/>
                </a:solidFill>
              </a:rPr>
              <a:t>A vague goal becomes a ranked list of specific gaps</a:t>
            </a:r>
            <a:endParaRPr lang="en-US" sz="1650" dirty="0"/>
          </a:p>
          <a:p>
            <a:pPr marL="203200" indent="-203200">
              <a:spcAft>
                <a:spcPts val="1000"/>
              </a:spcAft>
              <a:buSzPct val="100000"/>
              <a:buChar char="•"/>
            </a:pPr>
            <a:r>
              <a:rPr lang="en-US" sz="1650" dirty="0">
                <a:solidFill>
                  <a:schemeClr val="tx1"/>
                </a:solidFill>
              </a:rPr>
              <a:t>A clear order to learn in, sized to the time available</a:t>
            </a:r>
            <a:endParaRPr lang="en-US" sz="1650" dirty="0"/>
          </a:p>
          <a:p>
            <a:pPr marL="203200" indent="-203200">
              <a:spcAft>
                <a:spcPts val="1000"/>
              </a:spcAft>
              <a:buSzPct val="100000"/>
              <a:buChar char="•"/>
            </a:pPr>
            <a:r>
              <a:rPr lang="en-US" sz="1650" dirty="0">
                <a:solidFill>
                  <a:schemeClr val="tx1"/>
                </a:solidFill>
              </a:rPr>
              <a:t>A quick fit check against a real job post before applying</a:t>
            </a:r>
            <a:endParaRPr lang="en-US" sz="1650" dirty="0"/>
          </a:p>
          <a:p>
            <a:pPr marL="203200" indent="-203200">
              <a:spcAft>
                <a:spcPts val="1000"/>
              </a:spcAft>
              <a:buSzPct val="100000"/>
              <a:buChar char="•"/>
            </a:pPr>
            <a:r>
              <a:rPr lang="en-US" sz="1650" dirty="0">
                <a:solidFill>
                  <a:schemeClr val="tx1"/>
                </a:solidFill>
              </a:rPr>
              <a:t>Assessments turn self-ratings into evidence</a:t>
            </a:r>
            <a:endParaRPr lang="en-US" sz="1650" dirty="0"/>
          </a:p>
        </p:txBody>
      </p:sp>
      <p:sp>
        <p:nvSpPr>
          <p:cNvPr id="9" name="Current limitations header"/>
          <p:cNvSpPr/>
          <p:nvPr/>
        </p:nvSpPr>
        <p:spPr>
          <a:xfrm>
            <a:off x="4334256" y="1234440"/>
            <a:ext cx="3520440" cy="868680"/>
          </a:xfrm>
          <a:prstGeom prst="rect">
            <a:avLst/>
          </a:prstGeom>
          <a:solidFill>
            <a:srgbClr val="F2B45B"/>
          </a:solidFill>
          <a:ln/>
        </p:spPr>
      </p:sp>
      <p:pic>
        <p:nvPicPr>
          <p:cNvPr id="10" name="Image 1" descr="Current limitations icon"/>
          <p:cNvPicPr>
            <a:picLocks noChangeAspect="1"/>
          </p:cNvPicPr>
          <p:nvPr/>
        </p:nvPicPr>
        <p:blipFill>
          <a:blip r:embed="rId4"/>
          <a:stretch>
            <a:fillRect/>
          </a:stretch>
        </p:blipFill>
        <p:spPr>
          <a:xfrm>
            <a:off x="4517136" y="1463040"/>
            <a:ext cx="384048" cy="384048"/>
          </a:xfrm>
          <a:prstGeom prst="rect">
            <a:avLst/>
          </a:prstGeom>
        </p:spPr>
      </p:pic>
      <p:sp>
        <p:nvSpPr>
          <p:cNvPr id="11" name="Text 7"/>
          <p:cNvSpPr txBox="1"/>
          <p:nvPr/>
        </p:nvSpPr>
        <p:spPr>
          <a:xfrm>
            <a:off x="5047488" y="1307592"/>
            <a:ext cx="2743200" cy="384048"/>
          </a:xfrm>
          <a:prstGeom prst="rect">
            <a:avLst/>
          </a:prstGeom>
          <a:noFill/>
          <a:ln/>
        </p:spPr>
        <p:txBody>
          <a:bodyPr wrap="square" lIns="0" tIns="0" rIns="0" bIns="0" rtlCol="0" anchor="t"/>
          <a:lstStyle/>
          <a:p>
            <a:pPr marL="0" indent="0">
              <a:buNone/>
            </a:pPr>
            <a:r>
              <a:rPr lang="en-US" sz="1900" b="1" dirty="0">
                <a:solidFill>
                  <a:srgbClr val="19324D"/>
                </a:solidFill>
              </a:rPr>
              <a:t>Current limitations</a:t>
            </a:r>
            <a:endParaRPr lang="en-US" sz="1900" dirty="0"/>
          </a:p>
        </p:txBody>
      </p:sp>
      <p:sp>
        <p:nvSpPr>
          <p:cNvPr id="12" name="Text 8"/>
          <p:cNvSpPr txBox="1"/>
          <p:nvPr/>
        </p:nvSpPr>
        <p:spPr>
          <a:xfrm>
            <a:off x="5047488" y="1682496"/>
            <a:ext cx="2743200" cy="320040"/>
          </a:xfrm>
          <a:prstGeom prst="rect">
            <a:avLst/>
          </a:prstGeom>
          <a:noFill/>
          <a:ln/>
        </p:spPr>
        <p:txBody>
          <a:bodyPr wrap="square" lIns="0" tIns="0" rIns="0" bIns="0" rtlCol="0" anchor="t"/>
          <a:lstStyle/>
          <a:p>
            <a:pPr marL="0" indent="0">
              <a:buNone/>
            </a:pPr>
            <a:r>
              <a:rPr lang="en-US" sz="1200" dirty="0">
                <a:solidFill>
                  <a:srgbClr val="19324D"/>
                </a:solidFill>
              </a:rPr>
              <a:t>Found in the code and on the live site</a:t>
            </a:r>
            <a:endParaRPr lang="en-US" sz="1200" dirty="0"/>
          </a:p>
        </p:txBody>
      </p:sp>
      <p:sp>
        <p:nvSpPr>
          <p:cNvPr id="13" name="Current limitations body"/>
          <p:cNvSpPr/>
          <p:nvPr/>
        </p:nvSpPr>
        <p:spPr>
          <a:xfrm>
            <a:off x="4334256" y="2103120"/>
            <a:ext cx="3520440" cy="4069080"/>
          </a:xfrm>
          <a:prstGeom prst="rect">
            <a:avLst/>
          </a:prstGeom>
          <a:solidFill>
            <a:schemeClr val="bg2"/>
          </a:solidFill>
          <a:ln/>
        </p:spPr>
      </p:sp>
      <p:sp>
        <p:nvSpPr>
          <p:cNvPr id="14" name="Text 10"/>
          <p:cNvSpPr txBox="1"/>
          <p:nvPr/>
        </p:nvSpPr>
        <p:spPr>
          <a:xfrm>
            <a:off x="4498848" y="2286000"/>
            <a:ext cx="3218688" cy="3794760"/>
          </a:xfrm>
          <a:prstGeom prst="rect">
            <a:avLst/>
          </a:prstGeom>
          <a:noFill/>
          <a:ln/>
        </p:spPr>
        <p:txBody>
          <a:bodyPr wrap="square" lIns="0" tIns="0" rIns="0" bIns="0" rtlCol="0" anchor="t"/>
          <a:lstStyle/>
          <a:p>
            <a:pPr marL="203200" indent="-203200">
              <a:spcAft>
                <a:spcPts val="1000"/>
              </a:spcAft>
              <a:buSzPct val="100000"/>
              <a:buChar char="•"/>
            </a:pPr>
            <a:r>
              <a:rPr lang="en-US" sz="1650" dirty="0">
                <a:solidFill>
                  <a:schemeClr val="tx1"/>
                </a:solidFill>
              </a:rPr>
              <a:t>Levels start as self-ratings until an assessment is taken</a:t>
            </a:r>
            <a:endParaRPr lang="en-US" sz="1650" dirty="0"/>
          </a:p>
          <a:p>
            <a:pPr marL="203200" indent="-203200">
              <a:spcAft>
                <a:spcPts val="1000"/>
              </a:spcAft>
              <a:buSzPct val="100000"/>
              <a:buChar char="•"/>
            </a:pPr>
            <a:r>
              <a:rPr lang="en-US" sz="1650" dirty="0">
                <a:solidFill>
                  <a:schemeClr val="tx1"/>
                </a:solidFill>
              </a:rPr>
              <a:t>Role targets and company profiles are set by our team, not taken from live job data</a:t>
            </a:r>
            <a:endParaRPr lang="en-US" sz="1650" dirty="0"/>
          </a:p>
          <a:p>
            <a:pPr marL="203200" indent="-203200">
              <a:spcAft>
                <a:spcPts val="1000"/>
              </a:spcAft>
              <a:buSzPct val="100000"/>
              <a:buChar char="•"/>
            </a:pPr>
            <a:r>
              <a:rPr lang="en-US" sz="1650" dirty="0">
                <a:solidFill>
                  <a:schemeClr val="tx1"/>
                </a:solidFill>
              </a:rPr>
              <a:t>Data stays in one browser; no accounts on the live site</a:t>
            </a:r>
            <a:endParaRPr lang="en-US" sz="1650" dirty="0"/>
          </a:p>
          <a:p>
            <a:pPr marL="203200" indent="-203200">
              <a:spcAft>
                <a:spcPts val="1000"/>
              </a:spcAft>
              <a:buSzPct val="100000"/>
              <a:buChar char="•"/>
            </a:pPr>
            <a:r>
              <a:rPr lang="en-US" sz="1650" dirty="0">
                <a:solidFill>
                  <a:schemeClr val="tx1"/>
                </a:solidFill>
              </a:rPr>
              <a:t>Opening an inner page URL directly (e.g. /dashboard) shows a 404</a:t>
            </a:r>
            <a:endParaRPr lang="en-US" sz="1650" dirty="0"/>
          </a:p>
          <a:p>
            <a:pPr marL="203200" indent="-203200">
              <a:spcAft>
                <a:spcPts val="1000"/>
              </a:spcAft>
              <a:buSzPct val="100000"/>
              <a:buChar char="•"/>
            </a:pPr>
            <a:r>
              <a:rPr lang="en-US" sz="1650" dirty="0">
                <a:solidFill>
                  <a:schemeClr val="tx1"/>
                </a:solidFill>
              </a:rPr>
              <a:t>Resume reader needs text-based PDFs; GitHub checks are rate-limited</a:t>
            </a:r>
            <a:endParaRPr lang="en-US" sz="1650" dirty="0"/>
          </a:p>
        </p:txBody>
      </p:sp>
      <p:sp>
        <p:nvSpPr>
          <p:cNvPr id="15" name="Future scope header"/>
          <p:cNvSpPr/>
          <p:nvPr/>
        </p:nvSpPr>
        <p:spPr>
          <a:xfrm>
            <a:off x="8119872" y="1234440"/>
            <a:ext cx="3520440" cy="868680"/>
          </a:xfrm>
          <a:prstGeom prst="rect">
            <a:avLst/>
          </a:prstGeom>
          <a:solidFill>
            <a:srgbClr val="19324D"/>
          </a:solidFill>
          <a:ln/>
        </p:spPr>
      </p:sp>
      <p:pic>
        <p:nvPicPr>
          <p:cNvPr id="16" name="Image 2" descr="Future scope icon"/>
          <p:cNvPicPr>
            <a:picLocks noChangeAspect="1"/>
          </p:cNvPicPr>
          <p:nvPr/>
        </p:nvPicPr>
        <p:blipFill>
          <a:blip r:embed="rId5"/>
          <a:stretch>
            <a:fillRect/>
          </a:stretch>
        </p:blipFill>
        <p:spPr>
          <a:xfrm>
            <a:off x="8302752" y="1463040"/>
            <a:ext cx="384048" cy="384048"/>
          </a:xfrm>
          <a:prstGeom prst="rect">
            <a:avLst/>
          </a:prstGeom>
        </p:spPr>
      </p:pic>
      <p:sp>
        <p:nvSpPr>
          <p:cNvPr id="17" name="Text 12"/>
          <p:cNvSpPr txBox="1"/>
          <p:nvPr/>
        </p:nvSpPr>
        <p:spPr>
          <a:xfrm>
            <a:off x="8833104" y="1307592"/>
            <a:ext cx="2743200" cy="384048"/>
          </a:xfrm>
          <a:prstGeom prst="rect">
            <a:avLst/>
          </a:prstGeom>
          <a:noFill/>
          <a:ln/>
        </p:spPr>
        <p:txBody>
          <a:bodyPr wrap="square" lIns="0" tIns="0" rIns="0" bIns="0" rtlCol="0" anchor="t"/>
          <a:lstStyle/>
          <a:p>
            <a:pPr marL="0" indent="0">
              <a:buNone/>
            </a:pPr>
            <a:r>
              <a:rPr lang="en-US" sz="1900" b="1" dirty="0">
                <a:solidFill>
                  <a:srgbClr val="FFFFFF"/>
                </a:solidFill>
              </a:rPr>
              <a:t>Future scope</a:t>
            </a:r>
            <a:endParaRPr lang="en-US" sz="1900" dirty="0"/>
          </a:p>
        </p:txBody>
      </p:sp>
      <p:sp>
        <p:nvSpPr>
          <p:cNvPr id="18" name="Text 13"/>
          <p:cNvSpPr txBox="1"/>
          <p:nvPr/>
        </p:nvSpPr>
        <p:spPr>
          <a:xfrm>
            <a:off x="8833104" y="1682496"/>
            <a:ext cx="2743200" cy="320040"/>
          </a:xfrm>
          <a:prstGeom prst="rect">
            <a:avLst/>
          </a:prstGeom>
          <a:noFill/>
          <a:ln/>
        </p:spPr>
        <p:txBody>
          <a:bodyPr wrap="square" lIns="0" tIns="0" rIns="0" bIns="0" rtlCol="0" anchor="t"/>
          <a:lstStyle/>
          <a:p>
            <a:pPr marL="0" indent="0">
              <a:buNone/>
            </a:pPr>
            <a:r>
              <a:rPr lang="en-US" sz="1200" dirty="0">
                <a:solidFill>
                  <a:srgbClr val="EEF5FB"/>
                </a:solidFill>
              </a:rPr>
              <a:t>Proposed, not built or not deployed yet</a:t>
            </a:r>
            <a:endParaRPr lang="en-US" sz="1200" dirty="0"/>
          </a:p>
        </p:txBody>
      </p:sp>
      <p:sp>
        <p:nvSpPr>
          <p:cNvPr id="19" name="Future scope body"/>
          <p:cNvSpPr/>
          <p:nvPr/>
        </p:nvSpPr>
        <p:spPr>
          <a:xfrm>
            <a:off x="8119872" y="2103120"/>
            <a:ext cx="3520440" cy="4069080"/>
          </a:xfrm>
          <a:prstGeom prst="rect">
            <a:avLst/>
          </a:prstGeom>
          <a:solidFill>
            <a:schemeClr val="bg2"/>
          </a:solidFill>
          <a:ln/>
        </p:spPr>
      </p:sp>
      <p:sp>
        <p:nvSpPr>
          <p:cNvPr id="20" name="Text 15"/>
          <p:cNvSpPr txBox="1"/>
          <p:nvPr/>
        </p:nvSpPr>
        <p:spPr>
          <a:xfrm>
            <a:off x="8284464" y="2286000"/>
            <a:ext cx="3218688" cy="3794760"/>
          </a:xfrm>
          <a:prstGeom prst="rect">
            <a:avLst/>
          </a:prstGeom>
          <a:noFill/>
          <a:ln/>
        </p:spPr>
        <p:txBody>
          <a:bodyPr wrap="square" lIns="0" tIns="0" rIns="0" bIns="0" rtlCol="0" anchor="t"/>
          <a:lstStyle/>
          <a:p>
            <a:pPr marL="203200" indent="-203200">
              <a:spcAft>
                <a:spcPts val="1000"/>
              </a:spcAft>
              <a:buSzPct val="100000"/>
              <a:buChar char="•"/>
            </a:pPr>
            <a:r>
              <a:rPr lang="en-US" sz="1650" dirty="0">
                <a:solidFill>
                  <a:schemeClr val="tx1"/>
                </a:solidFill>
              </a:rPr>
              <a:t>Turn on accounts and sync (Firebase support is already in the code)</a:t>
            </a:r>
            <a:endParaRPr lang="en-US" sz="1650" dirty="0"/>
          </a:p>
          <a:p>
            <a:pPr marL="203200" indent="-203200">
              <a:spcAft>
                <a:spcPts val="1000"/>
              </a:spcAft>
              <a:buSzPct val="100000"/>
              <a:buChar char="•"/>
            </a:pPr>
            <a:r>
              <a:rPr lang="en-US" sz="1650" dirty="0">
                <a:solidFill>
                  <a:schemeClr val="tx1"/>
                </a:solidFill>
              </a:rPr>
              <a:t>Deploy the API so the optional Gemini step works live</a:t>
            </a:r>
            <a:endParaRPr lang="en-US" sz="1650" dirty="0"/>
          </a:p>
          <a:p>
            <a:pPr marL="203200" indent="-203200">
              <a:spcAft>
                <a:spcPts val="1000"/>
              </a:spcAft>
              <a:buSzPct val="100000"/>
              <a:buChar char="•"/>
            </a:pPr>
            <a:r>
              <a:rPr lang="en-US" sz="1650" dirty="0">
                <a:solidFill>
                  <a:schemeClr val="tx1"/>
                </a:solidFill>
              </a:rPr>
              <a:t>Add a Vercel rewrite rule so every page URL loads</a:t>
            </a:r>
            <a:endParaRPr lang="en-US" sz="1650" dirty="0"/>
          </a:p>
          <a:p>
            <a:pPr marL="203200" indent="-203200">
              <a:spcAft>
                <a:spcPts val="1000"/>
              </a:spcAft>
              <a:buSzPct val="100000"/>
              <a:buChar char="•"/>
            </a:pPr>
            <a:r>
              <a:rPr lang="en-US" sz="1650" dirty="0">
                <a:solidFill>
                  <a:schemeClr val="tx1"/>
                </a:solidFill>
              </a:rPr>
              <a:t>Check role targets with placement-cell or recruiter input, then add more roles</a:t>
            </a:r>
            <a:endParaRPr lang="en-US" sz="165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C9AA8"/>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onclusion panel"/>
          <p:cNvSpPr/>
          <p:nvPr/>
        </p:nvSpPr>
        <p:spPr>
          <a:xfrm>
            <a:off x="0" y="0"/>
            <a:ext cx="5394960" cy="6858000"/>
          </a:xfrm>
          <a:prstGeom prst="rect">
            <a:avLst/>
          </a:prstGeom>
          <a:solidFill>
            <a:schemeClr val="tx2"/>
          </a:solidFill>
          <a:ln/>
        </p:spPr>
      </p:sp>
      <p:sp>
        <p:nvSpPr>
          <p:cNvPr id="3" name="Text 1"/>
          <p:cNvSpPr txBox="1"/>
          <p:nvPr/>
        </p:nvSpPr>
        <p:spPr>
          <a:xfrm>
            <a:off x="548640" y="594360"/>
            <a:ext cx="4480560" cy="320040"/>
          </a:xfrm>
          <a:prstGeom prst="rect">
            <a:avLst/>
          </a:prstGeom>
          <a:noFill/>
          <a:ln/>
        </p:spPr>
        <p:txBody>
          <a:bodyPr wrap="square" lIns="0" tIns="0" rIns="0" bIns="0" rtlCol="0" anchor="t"/>
          <a:lstStyle/>
          <a:p>
            <a:pPr marL="0" indent="0">
              <a:buNone/>
            </a:pPr>
            <a:r>
              <a:rPr lang="en-US" sz="1300" b="1" kern="0" spc="200" dirty="0">
                <a:solidFill>
                  <a:schemeClr val="accent2"/>
                </a:solidFill>
              </a:rPr>
              <a:t>CONCLUSION</a:t>
            </a:r>
            <a:endParaRPr lang="en-US" sz="1300" dirty="0"/>
          </a:p>
        </p:txBody>
      </p:sp>
      <p:sp>
        <p:nvSpPr>
          <p:cNvPr id="4" name="Text 2"/>
          <p:cNvSpPr txBox="1"/>
          <p:nvPr/>
        </p:nvSpPr>
        <p:spPr>
          <a:xfrm>
            <a:off x="548640" y="914400"/>
            <a:ext cx="4480560" cy="1234440"/>
          </a:xfrm>
          <a:prstGeom prst="rect">
            <a:avLst/>
          </a:prstGeom>
          <a:noFill/>
          <a:ln/>
        </p:spPr>
        <p:txBody>
          <a:bodyPr wrap="square" lIns="0" tIns="0" rIns="0" bIns="0" rtlCol="0" anchor="t"/>
          <a:lstStyle/>
          <a:p>
            <a:pPr marL="0" indent="0">
              <a:buNone/>
            </a:pPr>
            <a:r>
              <a:rPr lang="en-US" sz="2600" b="1" dirty="0">
                <a:solidFill>
                  <a:schemeClr val="bg1"/>
                </a:solidFill>
              </a:rPr>
              <a:t>From a target role to a weekly plan, with every step explained.</a:t>
            </a:r>
            <a:endParaRPr lang="en-US" sz="2600" dirty="0"/>
          </a:p>
        </p:txBody>
      </p:sp>
      <p:sp>
        <p:nvSpPr>
          <p:cNvPr id="5" name="Text 3"/>
          <p:cNvSpPr txBox="1"/>
          <p:nvPr/>
        </p:nvSpPr>
        <p:spPr>
          <a:xfrm>
            <a:off x="548640" y="2331720"/>
            <a:ext cx="4480560" cy="2423160"/>
          </a:xfrm>
          <a:prstGeom prst="rect">
            <a:avLst/>
          </a:prstGeom>
          <a:noFill/>
          <a:ln/>
        </p:spPr>
        <p:txBody>
          <a:bodyPr wrap="square" lIns="0" tIns="0" rIns="0" bIns="0" rtlCol="0" anchor="t"/>
          <a:lstStyle/>
          <a:p>
            <a:pPr marL="0" indent="0">
              <a:buNone/>
            </a:pPr>
            <a:r>
              <a:rPr lang="en-US" sz="1350" b="1" dirty="0">
                <a:solidFill>
                  <a:schemeClr val="accent2"/>
                </a:solidFill>
              </a:rPr>
              <a:t>The problem</a:t>
            </a:r>
            <a:endParaRPr lang="en-US" sz="1350" dirty="0"/>
          </a:p>
          <a:p>
            <a:pPr marL="0" indent="0">
              <a:spcAft>
                <a:spcPts val="1200"/>
              </a:spcAft>
              <a:buNone/>
            </a:pPr>
            <a:r>
              <a:rPr lang="en-US" sz="1500" dirty="0">
                <a:solidFill>
                  <a:schemeClr val="bg2"/>
                </a:solidFill>
              </a:rPr>
              <a:t>Students know the role they want, not what they are missing or what to learn first.</a:t>
            </a:r>
            <a:endParaRPr lang="en-US" sz="1350" dirty="0"/>
          </a:p>
          <a:p>
            <a:pPr marL="0" indent="0">
              <a:buNone/>
            </a:pPr>
            <a:r>
              <a:rPr lang="en-US" sz="1350" b="1" dirty="0">
                <a:solidFill>
                  <a:schemeClr val="accent2"/>
                </a:solidFill>
              </a:rPr>
              <a:t>What we built</a:t>
            </a:r>
            <a:endParaRPr lang="en-US" sz="1350" dirty="0"/>
          </a:p>
          <a:p>
            <a:pPr marL="0" indent="0">
              <a:spcAft>
                <a:spcPts val="1200"/>
              </a:spcAft>
              <a:buNone/>
            </a:pPr>
            <a:r>
              <a:rPr lang="en-US" sz="1500" dirty="0">
                <a:solidFill>
                  <a:schemeClr val="bg2"/>
                </a:solidFill>
              </a:rPr>
              <a:t>A working web app covering 13 roles and 93 skills, live today.</a:t>
            </a:r>
            <a:endParaRPr lang="en-US" sz="1350" dirty="0"/>
          </a:p>
          <a:p>
            <a:pPr marL="0" indent="0">
              <a:buNone/>
            </a:pPr>
            <a:r>
              <a:rPr lang="en-US" sz="1350" b="1" dirty="0">
                <a:solidFill>
                  <a:schemeClr val="accent2"/>
                </a:solidFill>
              </a:rPr>
              <a:t>Key takeaway</a:t>
            </a:r>
            <a:endParaRPr lang="en-US" sz="1350" dirty="0"/>
          </a:p>
          <a:p>
            <a:pPr marL="0" indent="0">
              <a:spcAft>
                <a:spcPts val="1200"/>
              </a:spcAft>
              <a:buNone/>
            </a:pPr>
            <a:r>
              <a:rPr lang="en-US" sz="1500" dirty="0">
                <a:solidFill>
                  <a:schemeClr val="bg2"/>
                </a:solidFill>
              </a:rPr>
              <a:t>Recommendations come from role targets and a rule-based planner, not a black box.</a:t>
            </a:r>
            <a:endParaRPr lang="en-US" sz="1350" dirty="0"/>
          </a:p>
        </p:txBody>
      </p:sp>
      <p:sp>
        <p:nvSpPr>
          <p:cNvPr id="6" name="Text 4"/>
          <p:cNvSpPr txBox="1"/>
          <p:nvPr/>
        </p:nvSpPr>
        <p:spPr>
          <a:xfrm>
            <a:off x="548640" y="4846320"/>
            <a:ext cx="448056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LIVE DEMO</a:t>
            </a:r>
            <a:endParaRPr lang="en-US" sz="1200" dirty="0"/>
          </a:p>
        </p:txBody>
      </p:sp>
      <p:sp>
        <p:nvSpPr>
          <p:cNvPr id="7" name="Text 5"/>
          <p:cNvSpPr txBox="1"/>
          <p:nvPr/>
        </p:nvSpPr>
        <p:spPr>
          <a:xfrm>
            <a:off x="548640" y="5120640"/>
            <a:ext cx="4663440" cy="411480"/>
          </a:xfrm>
          <a:prstGeom prst="rect">
            <a:avLst/>
          </a:prstGeom>
          <a:noFill/>
          <a:ln/>
        </p:spPr>
        <p:txBody>
          <a:bodyPr wrap="square" lIns="0" tIns="0" rIns="0" bIns="0" rtlCol="0" anchor="t"/>
          <a:lstStyle/>
          <a:p>
            <a:pPr marL="0" indent="0">
              <a:buNone/>
            </a:pPr>
            <a:r>
              <a:rPr lang="en-US" sz="1900" b="1" u="sng" dirty="0">
                <a:solidFill>
                  <a:schemeClr val="bg1"/>
                </a:solidFill>
                <a:hlinkClick r:id="rId3" tooltip="Open the live site">
                  <a:extLst>
                    <a:ext uri="{A12FA001-AC4F-418D-AE19-62706E023703}">
                      <ahyp:hlinkClr xmlns:ahyp="http://schemas.microsoft.com/office/drawing/2018/hyperlinkcolor" val="tx"/>
                    </a:ext>
                  </a:extLst>
                </a:hlinkClick>
              </a:rPr>
              <a:t>skillgapanalyzer-alpha.vercel.app</a:t>
            </a:r>
            <a:endParaRPr lang="en-US" sz="1900" dirty="0"/>
          </a:p>
        </p:txBody>
      </p:sp>
      <p:sp>
        <p:nvSpPr>
          <p:cNvPr id="8" name="Text 6"/>
          <p:cNvSpPr txBox="1"/>
          <p:nvPr/>
        </p:nvSpPr>
        <p:spPr>
          <a:xfrm>
            <a:off x="548640" y="5943600"/>
            <a:ext cx="4480560" cy="411480"/>
          </a:xfrm>
          <a:prstGeom prst="rect">
            <a:avLst/>
          </a:prstGeom>
          <a:noFill/>
          <a:ln/>
        </p:spPr>
        <p:txBody>
          <a:bodyPr wrap="square" lIns="0" tIns="0" rIns="0" bIns="0" rtlCol="0" anchor="t"/>
          <a:lstStyle/>
          <a:p>
            <a:pPr marL="0" indent="0">
              <a:buNone/>
            </a:pPr>
            <a:r>
              <a:rPr lang="en-US" sz="2000" b="1" dirty="0">
                <a:solidFill>
                  <a:schemeClr val="bg1"/>
                </a:solidFill>
              </a:rPr>
              <a:t>Thank you. Questions?</a:t>
            </a:r>
            <a:endParaRPr lang="en-US" sz="2000" dirty="0"/>
          </a:p>
        </p:txBody>
      </p:sp>
      <p:pic>
        <p:nvPicPr>
          <p:cNvPr id="9" name="Dashboard screenshot" descr="Dashboard screenshot"/>
          <p:cNvPicPr>
            <a:picLocks noChangeAspect="1"/>
          </p:cNvPicPr>
          <p:nvPr/>
        </p:nvPicPr>
        <p:blipFill>
          <a:blip r:embed="rId4"/>
          <a:stretch>
            <a:fillRect/>
          </a:stretch>
        </p:blipFill>
        <p:spPr>
          <a:xfrm>
            <a:off x="5760720" y="822960"/>
            <a:ext cx="5879592" cy="2674398"/>
          </a:xfrm>
          <a:prstGeom prst="rect">
            <a:avLst/>
          </a:prstGeom>
        </p:spPr>
      </p:pic>
      <p:sp>
        <p:nvSpPr>
          <p:cNvPr id="10" name="Dashboard screenshot frame"/>
          <p:cNvSpPr/>
          <p:nvPr/>
        </p:nvSpPr>
        <p:spPr>
          <a:xfrm>
            <a:off x="5760720" y="822960"/>
            <a:ext cx="5879592" cy="2674398"/>
          </a:xfrm>
          <a:prstGeom prst="rect">
            <a:avLst/>
          </a:prstGeom>
          <a:ln w="9525">
            <a:solidFill>
              <a:srgbClr val="C9D6E3"/>
            </a:solidFill>
            <a:prstDash val="solid"/>
          </a:ln>
        </p:spPr>
      </p:sp>
      <p:sp>
        <p:nvSpPr>
          <p:cNvPr id="11" name="Text 8"/>
          <p:cNvSpPr txBox="1"/>
          <p:nvPr/>
        </p:nvSpPr>
        <p:spPr>
          <a:xfrm>
            <a:off x="5760720" y="3570510"/>
            <a:ext cx="5879592" cy="274320"/>
          </a:xfrm>
          <a:prstGeom prst="rect">
            <a:avLst/>
          </a:prstGeom>
          <a:noFill/>
          <a:ln/>
        </p:spPr>
        <p:txBody>
          <a:bodyPr wrap="square" lIns="0" tIns="0" rIns="0" bIns="0" rtlCol="0" anchor="t"/>
          <a:lstStyle/>
          <a:p>
            <a:pPr marL="0" indent="0">
              <a:buNone/>
            </a:pPr>
            <a:r>
              <a:rPr lang="en-US" sz="1100" dirty="0">
                <a:solidFill>
                  <a:schemeClr val="accent5"/>
                </a:solidFill>
              </a:rPr>
              <a:t>Dashboard on the live site after our test run</a:t>
            </a:r>
            <a:endParaRPr lang="en-US" sz="1100" dirty="0"/>
          </a:p>
        </p:txBody>
      </p:sp>
      <p:sp>
        <p:nvSpPr>
          <p:cNvPr id="12" name="Demo steps panel"/>
          <p:cNvSpPr/>
          <p:nvPr/>
        </p:nvSpPr>
        <p:spPr>
          <a:xfrm>
            <a:off x="5760720" y="4000278"/>
            <a:ext cx="5879592" cy="1600200"/>
          </a:xfrm>
          <a:prstGeom prst="rect">
            <a:avLst/>
          </a:prstGeom>
          <a:solidFill>
            <a:schemeClr val="bg2"/>
          </a:solidFill>
          <a:ln/>
        </p:spPr>
      </p:sp>
      <p:sp>
        <p:nvSpPr>
          <p:cNvPr id="13" name="Text 10"/>
          <p:cNvSpPr txBox="1"/>
          <p:nvPr/>
        </p:nvSpPr>
        <p:spPr>
          <a:xfrm>
            <a:off x="5989320" y="4137438"/>
            <a:ext cx="5486400" cy="320040"/>
          </a:xfrm>
          <a:prstGeom prst="rect">
            <a:avLst/>
          </a:prstGeom>
          <a:noFill/>
          <a:ln/>
        </p:spPr>
        <p:txBody>
          <a:bodyPr wrap="square" lIns="0" tIns="0" rIns="0" bIns="0" rtlCol="0" anchor="t"/>
          <a:lstStyle/>
          <a:p>
            <a:pPr marL="0" indent="0">
              <a:buNone/>
            </a:pPr>
            <a:r>
              <a:rPr lang="en-US" sz="1500" b="1" dirty="0">
                <a:solidFill>
                  <a:schemeClr val="accent4"/>
                </a:solidFill>
              </a:rPr>
              <a:t>In the demo</a:t>
            </a:r>
            <a:endParaRPr lang="en-US" sz="1500" dirty="0"/>
          </a:p>
        </p:txBody>
      </p:sp>
      <p:sp>
        <p:nvSpPr>
          <p:cNvPr id="14" name="Badge 1"/>
          <p:cNvSpPr/>
          <p:nvPr/>
        </p:nvSpPr>
        <p:spPr>
          <a:xfrm>
            <a:off x="5989320" y="4548918"/>
            <a:ext cx="237744" cy="237744"/>
          </a:xfrm>
          <a:prstGeom prst="ellipse">
            <a:avLst/>
          </a:prstGeom>
          <a:solidFill>
            <a:srgbClr val="19324D"/>
          </a:solidFill>
          <a:ln/>
        </p:spPr>
        <p:txBody>
          <a:bodyPr wrap="square" lIns="0" tIns="0" rIns="0" bIns="0" rtlCol="0" anchor="ctr"/>
          <a:lstStyle/>
          <a:p>
            <a:pPr marL="0" indent="0" algn="ctr">
              <a:buNone/>
            </a:pPr>
            <a:r>
              <a:rPr lang="en-US" sz="1050" b="1" dirty="0">
                <a:solidFill>
                  <a:srgbClr val="FFFFFF"/>
                </a:solidFill>
              </a:rPr>
              <a:t>1</a:t>
            </a:r>
            <a:endParaRPr lang="en-US" sz="1050" dirty="0"/>
          </a:p>
        </p:txBody>
      </p:sp>
      <p:sp>
        <p:nvSpPr>
          <p:cNvPr id="15" name="Text 12"/>
          <p:cNvSpPr txBox="1"/>
          <p:nvPr/>
        </p:nvSpPr>
        <p:spPr>
          <a:xfrm>
            <a:off x="6355080" y="4530630"/>
            <a:ext cx="5120640" cy="274320"/>
          </a:xfrm>
          <a:prstGeom prst="rect">
            <a:avLst/>
          </a:prstGeom>
          <a:noFill/>
          <a:ln/>
        </p:spPr>
        <p:txBody>
          <a:bodyPr wrap="square" lIns="0" tIns="0" rIns="0" bIns="0" rtlCol="0" anchor="ctr"/>
          <a:lstStyle/>
          <a:p>
            <a:pPr marL="0" indent="0">
              <a:buNone/>
            </a:pPr>
            <a:r>
              <a:rPr lang="en-US" sz="1400" dirty="0">
                <a:solidFill>
                  <a:schemeClr val="tx1"/>
                </a:solidFill>
              </a:rPr>
              <a:t>Pick a role and add a few skills</a:t>
            </a:r>
            <a:endParaRPr lang="en-US" sz="1400" dirty="0"/>
          </a:p>
        </p:txBody>
      </p:sp>
      <p:sp>
        <p:nvSpPr>
          <p:cNvPr id="16" name="Badge 2"/>
          <p:cNvSpPr/>
          <p:nvPr/>
        </p:nvSpPr>
        <p:spPr>
          <a:xfrm>
            <a:off x="5989320" y="4878102"/>
            <a:ext cx="237744" cy="237744"/>
          </a:xfrm>
          <a:prstGeom prst="ellipse">
            <a:avLst/>
          </a:prstGeom>
          <a:solidFill>
            <a:srgbClr val="24A699"/>
          </a:solidFill>
          <a:ln/>
        </p:spPr>
        <p:txBody>
          <a:bodyPr wrap="square" lIns="0" tIns="0" rIns="0" bIns="0" rtlCol="0" anchor="ctr"/>
          <a:lstStyle/>
          <a:p>
            <a:pPr marL="0" indent="0" algn="ctr">
              <a:buNone/>
            </a:pPr>
            <a:r>
              <a:rPr lang="en-US" sz="1050" b="1" dirty="0">
                <a:solidFill>
                  <a:srgbClr val="FFFFFF"/>
                </a:solidFill>
              </a:rPr>
              <a:t>2</a:t>
            </a:r>
            <a:endParaRPr lang="en-US" sz="1050" dirty="0"/>
          </a:p>
        </p:txBody>
      </p:sp>
      <p:sp>
        <p:nvSpPr>
          <p:cNvPr id="17" name="Text 14"/>
          <p:cNvSpPr txBox="1"/>
          <p:nvPr/>
        </p:nvSpPr>
        <p:spPr>
          <a:xfrm>
            <a:off x="6355080" y="4859814"/>
            <a:ext cx="5120640" cy="274320"/>
          </a:xfrm>
          <a:prstGeom prst="rect">
            <a:avLst/>
          </a:prstGeom>
          <a:noFill/>
          <a:ln/>
        </p:spPr>
        <p:txBody>
          <a:bodyPr wrap="square" lIns="0" tIns="0" rIns="0" bIns="0" rtlCol="0" anchor="ctr"/>
          <a:lstStyle/>
          <a:p>
            <a:pPr marL="0" indent="0">
              <a:buNone/>
            </a:pPr>
            <a:r>
              <a:rPr lang="en-US" sz="1400" dirty="0">
                <a:solidFill>
                  <a:schemeClr val="tx1"/>
                </a:solidFill>
              </a:rPr>
              <a:t>See the readiness score and ranked gaps</a:t>
            </a:r>
            <a:endParaRPr lang="en-US" sz="1400" dirty="0"/>
          </a:p>
        </p:txBody>
      </p:sp>
      <p:sp>
        <p:nvSpPr>
          <p:cNvPr id="18" name="Badge 3"/>
          <p:cNvSpPr/>
          <p:nvPr/>
        </p:nvSpPr>
        <p:spPr>
          <a:xfrm>
            <a:off x="5989320" y="5207286"/>
            <a:ext cx="237744" cy="237744"/>
          </a:xfrm>
          <a:prstGeom prst="ellipse">
            <a:avLst/>
          </a:prstGeom>
          <a:solidFill>
            <a:srgbClr val="19324D"/>
          </a:solidFill>
          <a:ln/>
        </p:spPr>
        <p:txBody>
          <a:bodyPr wrap="square" lIns="0" tIns="0" rIns="0" bIns="0" rtlCol="0" anchor="ctr"/>
          <a:lstStyle/>
          <a:p>
            <a:pPr marL="0" indent="0" algn="ctr">
              <a:buNone/>
            </a:pPr>
            <a:r>
              <a:rPr lang="en-US" sz="1050" b="1" dirty="0">
                <a:solidFill>
                  <a:srgbClr val="FFFFFF"/>
                </a:solidFill>
              </a:rPr>
              <a:t>3</a:t>
            </a:r>
            <a:endParaRPr lang="en-US" sz="1050" dirty="0"/>
          </a:p>
        </p:txBody>
      </p:sp>
      <p:sp>
        <p:nvSpPr>
          <p:cNvPr id="19" name="Text 16"/>
          <p:cNvSpPr txBox="1"/>
          <p:nvPr/>
        </p:nvSpPr>
        <p:spPr>
          <a:xfrm>
            <a:off x="6355080" y="5188998"/>
            <a:ext cx="5120640" cy="274320"/>
          </a:xfrm>
          <a:prstGeom prst="rect">
            <a:avLst/>
          </a:prstGeom>
          <a:noFill/>
          <a:ln/>
        </p:spPr>
        <p:txBody>
          <a:bodyPr wrap="square" lIns="0" tIns="0" rIns="0" bIns="0" rtlCol="0" anchor="ctr"/>
          <a:lstStyle/>
          <a:p>
            <a:pPr marL="0" indent="0">
              <a:buNone/>
            </a:pPr>
            <a:r>
              <a:rPr lang="en-US" sz="1400" dirty="0">
                <a:solidFill>
                  <a:schemeClr val="tx1"/>
                </a:solidFill>
              </a:rPr>
              <a:t>Generate the week-by-week roadmap</a:t>
            </a:r>
            <a:endParaRPr lang="en-US" sz="1400" dirty="0"/>
          </a:p>
        </p:txBody>
      </p:sp>
      <p:sp>
        <p:nvSpPr>
          <p:cNvPr id="20" name="Text 17"/>
          <p:cNvSpPr txBox="1"/>
          <p:nvPr/>
        </p:nvSpPr>
        <p:spPr>
          <a:xfrm>
            <a:off x="5760720" y="6172200"/>
            <a:ext cx="4572000" cy="274320"/>
          </a:xfrm>
          <a:prstGeom prst="rect">
            <a:avLst/>
          </a:prstGeom>
          <a:noFill/>
          <a:ln/>
        </p:spPr>
        <p:txBody>
          <a:bodyPr wrap="square" lIns="0" tIns="0" rIns="0" bIns="0" rtlCol="0" anchor="t"/>
          <a:lstStyle/>
          <a:p>
            <a:pPr marL="0" indent="0">
              <a:buNone/>
            </a:pPr>
            <a:r>
              <a:rPr lang="en-US" sz="1200" dirty="0">
                <a:solidFill>
                  <a:srgbClr val="8C9AA8"/>
                </a:solidFill>
              </a:rPr>
              <a:t>[Team name] · [Member names] · [Institution]</a:t>
            </a:r>
            <a:endParaRPr lang="en-US" sz="1200" dirty="0"/>
          </a:p>
        </p:txBody>
      </p:sp>
      <p:sp>
        <p:nvSpPr>
          <p:cNvPr id="21" name="Text 18"/>
          <p:cNvSpPr txBox="1"/>
          <p:nvPr/>
        </p:nvSpPr>
        <p:spPr>
          <a:xfrm>
            <a:off x="10725912" y="6400800"/>
            <a:ext cx="914400" cy="274320"/>
          </a:xfrm>
          <a:prstGeom prst="rect">
            <a:avLst/>
          </a:prstGeom>
          <a:noFill/>
          <a:ln/>
        </p:spPr>
        <p:txBody>
          <a:bodyPr wrap="square" lIns="0" tIns="0" rIns="0" bIns="0" rtlCol="0" anchor="t"/>
          <a:lstStyle/>
          <a:p>
            <a:pPr marL="0" indent="0" algn="r">
              <a:buNone/>
            </a:pPr>
            <a:r>
              <a:rPr lang="en-US" sz="1100" dirty="0">
                <a:solidFill>
                  <a:srgbClr val="8C9AA8"/>
                </a:solidFill>
              </a:rPr>
              <a:t>10</a:t>
            </a:r>
            <a:endParaRPr lang="en-US" sz="1100" dirty="0"/>
          </a:p>
        </p:txBody>
      </p:sp>
    </p:spTree>
  </p:cSld>
  <p:clrMapOvr>
    <a:masterClrMapping/>
  </p:clrMapOvr>
</p:sld>
</file>

<file path=ppt/theme/theme1.xml><?xml version="1.0" encoding="utf-8"?>
<a:theme xmlns:a="http://schemas.openxmlformats.org/drawingml/2006/main" name="SkillGap Analyzer">
  <a:themeElements>
    <a:clrScheme name="SkillGap Analyzer">
      <a:dk1>
        <a:srgbClr val="1F2A37"/>
      </a:dk1>
      <a:lt1>
        <a:srgbClr val="FFFFFF"/>
      </a:lt1>
      <a:dk2>
        <a:srgbClr val="19324D"/>
      </a:dk2>
      <a:lt2>
        <a:srgbClr val="EEF5FB"/>
      </a:lt2>
      <a:accent1>
        <a:srgbClr val="24A699"/>
      </a:accent1>
      <a:accent2>
        <a:srgbClr val="F2B45B"/>
      </a:accent2>
      <a:accent3>
        <a:srgbClr val="19324D"/>
      </a:accent3>
      <a:accent4>
        <a:srgbClr val="1B7F75"/>
      </a:accent4>
      <a:accent5>
        <a:srgbClr val="4F5D6B"/>
      </a:accent5>
      <a:accent6>
        <a:srgbClr val="C9D6E3"/>
      </a:accent6>
      <a:hlink>
        <a:srgbClr val="1B7F75"/>
      </a:hlink>
      <a:folHlink>
        <a:srgbClr val="19324D"/>
      </a:folHlink>
    </a:clrScheme>
    <a:fontScheme name="SkillGap Analyz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TotalTime>
  <Words>2739</Words>
  <Application>Microsoft Office PowerPoint</Application>
  <PresentationFormat>Widescreen</PresentationFormat>
  <Paragraphs>235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SkillGap Analyzer</vt:lpstr>
      <vt:lpstr>PowerPoint Presentation</vt:lpstr>
      <vt:lpstr>The problem: knowing what to learn next</vt:lpstr>
      <vt:lpstr>Our solution</vt:lpstr>
      <vt:lpstr>Who it is for</vt:lpstr>
      <vt:lpstr>Key features on the live website</vt:lpstr>
      <vt:lpstr>How the website works</vt:lpstr>
      <vt:lpstr>How the gap and the roadmap are calculated</vt:lpstr>
      <vt:lpstr>Technology stack and architecture</vt:lpstr>
      <vt:lpstr>Impact, limitations and future scope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SkillGap Analyzer</dc:title>
  <dc:subject>Project presentation</dc:subject>
  <dc:creator>PptxGenJS</dc:creator>
  <cp:lastModifiedBy>Aditya Dixit</cp:lastModifiedBy>
  <cp:revision>1</cp:revision>
  <dcterms:created xsi:type="dcterms:W3CDTF">2026-10-15T13:31:47Z</dcterms:created>
  <dcterms:modified xsi:type="dcterms:W3CDTF">2026-10-15T17:03:24Z</dcterms:modified>
</cp:coreProperties>
</file>